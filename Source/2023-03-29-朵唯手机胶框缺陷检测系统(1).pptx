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9" r:id="rId2"/>
    <p:sldId id="414" r:id="rId3"/>
    <p:sldId id="432" r:id="rId4"/>
    <p:sldId id="425" r:id="rId5"/>
    <p:sldId id="427" r:id="rId6"/>
    <p:sldId id="415" r:id="rId7"/>
    <p:sldId id="429" r:id="rId8"/>
    <p:sldId id="423" r:id="rId9"/>
    <p:sldId id="413" r:id="rId10"/>
    <p:sldId id="419" r:id="rId11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39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025"/>
    <a:srgbClr val="E8FBE1"/>
    <a:srgbClr val="FFFFFF"/>
    <a:srgbClr val="2D84A9"/>
    <a:srgbClr val="9DB0C1"/>
    <a:srgbClr val="606A74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38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732" y="402"/>
      </p:cViewPr>
      <p:guideLst>
        <p:guide orient="horz" pos="739"/>
        <p:guide pos="3840"/>
        <p:guide orient="horz" pos="139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80D9045-4031-4607-9381-52E7703D2F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0B7229-854F-1D04-1D28-9BF999FDB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75E3A-B14F-4939-918E-3C6C2A4331F1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7CD1D1-8786-4936-E20D-A441BEB5CC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855F2C-92CA-0736-2D2D-8A208AB7B4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3D310-4A8D-47B9-B2DC-41405F8F39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6813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8EAAD-B2CC-431F-8762-3FC732074C7F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A81A5-8BA8-46CA-A0EB-1266939140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2416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A81A5-8BA8-46CA-A0EB-12669391404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817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A81A5-8BA8-46CA-A0EB-12669391404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827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D53E09-C1AE-4CEE-92CF-B1123E101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CFE25-3CC6-434B-B424-E27A81ED3017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9DC4C0-7310-4248-A63B-5EAA905B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D2D2C7-142C-4563-A256-0C8692C94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EFC0E-2FD6-46EF-A188-B70EEC57A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31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C98CC3-E270-4707-80D8-1E82B91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36E840-ADBD-4CF6-B757-AEBBA63A9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8AC328-3C31-4FB2-8181-4DB36B7B9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731A6-28D4-404F-8B33-8D4B3B9D9162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6B9237-C918-4596-A4BE-7156E5224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A37601-9DBC-4C05-BF48-C5522A7C7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EFC0E-2FD6-46EF-A188-B70EEC57A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26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CD10105-8375-4784-BEB8-1D685185183E}"/>
              </a:ext>
            </a:extLst>
          </p:cNvPr>
          <p:cNvSpPr/>
          <p:nvPr/>
        </p:nvSpPr>
        <p:spPr>
          <a:xfrm>
            <a:off x="10067491" y="-1"/>
            <a:ext cx="409903" cy="1209174"/>
          </a:xfrm>
          <a:prstGeom prst="rect">
            <a:avLst/>
          </a:prstGeom>
          <a:solidFill>
            <a:srgbClr val="2D8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08503A-FDC2-4462-B684-C46A7C709138}"/>
              </a:ext>
            </a:extLst>
          </p:cNvPr>
          <p:cNvSpPr/>
          <p:nvPr/>
        </p:nvSpPr>
        <p:spPr>
          <a:xfrm>
            <a:off x="10652679" y="-2"/>
            <a:ext cx="409903" cy="12091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767395-9F3C-4CC3-826B-16C7861DFEE2}"/>
              </a:ext>
            </a:extLst>
          </p:cNvPr>
          <p:cNvSpPr/>
          <p:nvPr/>
        </p:nvSpPr>
        <p:spPr>
          <a:xfrm>
            <a:off x="1156192" y="2234244"/>
            <a:ext cx="9879628" cy="13136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6000" b="1" spc="3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朵唯手机胶框缺陷检测系统</a:t>
            </a:r>
            <a:endParaRPr lang="en-US" altLang="zh-CN" sz="6000" b="1" spc="3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A9513F-750C-4F02-B862-46A4AD5C3E29}"/>
              </a:ext>
            </a:extLst>
          </p:cNvPr>
          <p:cNvSpPr/>
          <p:nvPr/>
        </p:nvSpPr>
        <p:spPr>
          <a:xfrm>
            <a:off x="10067491" y="4631875"/>
            <a:ext cx="409903" cy="2226123"/>
          </a:xfrm>
          <a:prstGeom prst="rect">
            <a:avLst/>
          </a:prstGeom>
          <a:solidFill>
            <a:srgbClr val="2D8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2E6DB0-CC8F-4642-AA96-0E728742226E}"/>
              </a:ext>
            </a:extLst>
          </p:cNvPr>
          <p:cNvSpPr/>
          <p:nvPr/>
        </p:nvSpPr>
        <p:spPr>
          <a:xfrm>
            <a:off x="10652679" y="4631876"/>
            <a:ext cx="409903" cy="222612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9A06383-3879-BB3B-5551-B1E2348BE2F4}"/>
              </a:ext>
            </a:extLst>
          </p:cNvPr>
          <p:cNvGrpSpPr/>
          <p:nvPr/>
        </p:nvGrpSpPr>
        <p:grpSpPr>
          <a:xfrm>
            <a:off x="4166327" y="4852395"/>
            <a:ext cx="4493538" cy="800220"/>
            <a:chOff x="5671727" y="3420773"/>
            <a:chExt cx="4493538" cy="80022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E63B4EF-9110-49AD-B5B5-AF1948B3E198}"/>
                </a:ext>
              </a:extLst>
            </p:cNvPr>
            <p:cNvSpPr txBox="1"/>
            <p:nvPr/>
          </p:nvSpPr>
          <p:spPr>
            <a:xfrm>
              <a:off x="7099576" y="3420773"/>
              <a:ext cx="184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i="0" u="none" strike="noStrike" kern="1200" cap="none" spc="40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E63B4EF-9110-49AD-B5B5-AF1948B3E198}"/>
                </a:ext>
              </a:extLst>
            </p:cNvPr>
            <p:cNvSpPr txBox="1"/>
            <p:nvPr/>
          </p:nvSpPr>
          <p:spPr>
            <a:xfrm>
              <a:off x="5671727" y="3820883"/>
              <a:ext cx="449353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000" i="0" u="none" strike="noStrike" cap="none" spc="400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单位：电子科技大学宜宾研究院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pic>
        <p:nvPicPr>
          <p:cNvPr id="1026" name="Picture 2" descr="查看源图像">
            <a:extLst>
              <a:ext uri="{FF2B5EF4-FFF2-40B4-BE49-F238E27FC236}">
                <a16:creationId xmlns:a16="http://schemas.microsoft.com/office/drawing/2014/main" id="{12801F44-74FD-5C04-F8BD-A6A719918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63" y="382795"/>
            <a:ext cx="4423406" cy="11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茶叶 的图像结果">
            <a:extLst>
              <a:ext uri="{FF2B5EF4-FFF2-40B4-BE49-F238E27FC236}">
                <a16:creationId xmlns:a16="http://schemas.microsoft.com/office/drawing/2014/main" id="{D81E6A43-D017-BFEE-9846-488546DA4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66" y="4444826"/>
            <a:ext cx="264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901669E-AEB9-7660-76EC-F36AB29F198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19" t="30581" r="25877" b="37715"/>
          <a:stretch/>
        </p:blipFill>
        <p:spPr>
          <a:xfrm>
            <a:off x="6096000" y="382795"/>
            <a:ext cx="3087149" cy="128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9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92A17E6-2A9F-0699-A325-0430080DC8FA}"/>
              </a:ext>
            </a:extLst>
          </p:cNvPr>
          <p:cNvGrpSpPr/>
          <p:nvPr/>
        </p:nvGrpSpPr>
        <p:grpSpPr>
          <a:xfrm>
            <a:off x="0" y="0"/>
            <a:ext cx="541879" cy="533912"/>
            <a:chOff x="0" y="0"/>
            <a:chExt cx="1036639" cy="167640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D2E5B50-403C-D401-402C-FF0E5D87FE32}"/>
                </a:ext>
              </a:extLst>
            </p:cNvPr>
            <p:cNvSpPr/>
            <p:nvPr/>
          </p:nvSpPr>
          <p:spPr>
            <a:xfrm flipH="1" flipV="1">
              <a:off x="626735" y="1"/>
              <a:ext cx="409904" cy="1676400"/>
            </a:xfrm>
            <a:prstGeom prst="rect">
              <a:avLst/>
            </a:prstGeom>
            <a:solidFill>
              <a:srgbClr val="2D84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697AAA1-63EF-2935-B5FF-E286B4982279}"/>
                </a:ext>
              </a:extLst>
            </p:cNvPr>
            <p:cNvSpPr/>
            <p:nvPr/>
          </p:nvSpPr>
          <p:spPr>
            <a:xfrm flipH="1" flipV="1">
              <a:off x="0" y="0"/>
              <a:ext cx="409905" cy="16763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6DB823B9-E2D0-C903-A13A-BBB2F38FB513}"/>
              </a:ext>
            </a:extLst>
          </p:cNvPr>
          <p:cNvGrpSpPr/>
          <p:nvPr/>
        </p:nvGrpSpPr>
        <p:grpSpPr>
          <a:xfrm>
            <a:off x="3878148" y="3044"/>
            <a:ext cx="4450958" cy="705545"/>
            <a:chOff x="3869494" y="45817"/>
            <a:chExt cx="4901584" cy="73517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5358A31-19DF-FC8A-321D-D099080E7685}"/>
                </a:ext>
              </a:extLst>
            </p:cNvPr>
            <p:cNvSpPr/>
            <p:nvPr/>
          </p:nvSpPr>
          <p:spPr>
            <a:xfrm>
              <a:off x="3869494" y="165523"/>
              <a:ext cx="4901584" cy="61547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3F1A0EA-2F36-495C-A925-F9CFBB707C8F}"/>
                </a:ext>
              </a:extLst>
            </p:cNvPr>
            <p:cNvSpPr txBox="1"/>
            <p:nvPr/>
          </p:nvSpPr>
          <p:spPr>
            <a:xfrm>
              <a:off x="3869494" y="45817"/>
              <a:ext cx="4901584" cy="690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1-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第三版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-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设备基本方案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4A4A64CE-0C8F-BA21-2499-F95D637650AC}"/>
              </a:ext>
            </a:extLst>
          </p:cNvPr>
          <p:cNvGrpSpPr/>
          <p:nvPr/>
        </p:nvGrpSpPr>
        <p:grpSpPr>
          <a:xfrm>
            <a:off x="1958102" y="947352"/>
            <a:ext cx="8090773" cy="3720707"/>
            <a:chOff x="1843802" y="975118"/>
            <a:chExt cx="8371430" cy="4142712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7974F70E-38E0-C8BC-FB4F-51F2B29569F9}"/>
                </a:ext>
              </a:extLst>
            </p:cNvPr>
            <p:cNvSpPr/>
            <p:nvPr/>
          </p:nvSpPr>
          <p:spPr>
            <a:xfrm>
              <a:off x="4394089" y="1715887"/>
              <a:ext cx="3325933" cy="228514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257CE1C-C944-2FD8-6E11-FD3B2B8F8372}"/>
                </a:ext>
              </a:extLst>
            </p:cNvPr>
            <p:cNvSpPr/>
            <p:nvPr/>
          </p:nvSpPr>
          <p:spPr>
            <a:xfrm>
              <a:off x="1976768" y="2248672"/>
              <a:ext cx="7933821" cy="1274825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A9C8433E-8613-1D63-D04E-9D13E98AD6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9398" y="1882336"/>
              <a:ext cx="1792638" cy="1984082"/>
            </a:xfrm>
            <a:prstGeom prst="ellipse">
              <a:avLst/>
            </a:prstGeom>
            <a:solidFill>
              <a:srgbClr val="92D050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B0E718EC-CA83-6C13-4412-91C819D094CB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43040" y="2253658"/>
              <a:ext cx="445672" cy="101935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07965561-29E4-F403-8314-3483184966E5}"/>
                </a:ext>
              </a:extLst>
            </p:cNvPr>
            <p:cNvSpPr/>
            <p:nvPr/>
          </p:nvSpPr>
          <p:spPr>
            <a:xfrm>
              <a:off x="5647637" y="2591304"/>
              <a:ext cx="359632" cy="400992"/>
            </a:xfrm>
            <a:prstGeom prst="ellipse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0F82728B-2446-1E5F-62BA-78D8059FF0E9}"/>
                </a:ext>
              </a:extLst>
            </p:cNvPr>
            <p:cNvSpPr/>
            <p:nvPr/>
          </p:nvSpPr>
          <p:spPr>
            <a:xfrm>
              <a:off x="3698329" y="1817290"/>
              <a:ext cx="240976" cy="208086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8BA7060-B419-7C27-EA5D-A845C94C4451}"/>
                </a:ext>
              </a:extLst>
            </p:cNvPr>
            <p:cNvSpPr/>
            <p:nvPr/>
          </p:nvSpPr>
          <p:spPr>
            <a:xfrm>
              <a:off x="8133137" y="1883639"/>
              <a:ext cx="240976" cy="208086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6953BAF-C5C9-F257-B7C1-9FAA2EF74774}"/>
                </a:ext>
              </a:extLst>
            </p:cNvPr>
            <p:cNvSpPr/>
            <p:nvPr/>
          </p:nvSpPr>
          <p:spPr>
            <a:xfrm>
              <a:off x="4300904" y="1116185"/>
              <a:ext cx="3500693" cy="17999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4E86DEC-50F7-DE42-1D5A-E474DA0A8D71}"/>
                </a:ext>
              </a:extLst>
            </p:cNvPr>
            <p:cNvSpPr txBox="1"/>
            <p:nvPr/>
          </p:nvSpPr>
          <p:spPr>
            <a:xfrm>
              <a:off x="2014062" y="3929322"/>
              <a:ext cx="1684267" cy="8309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流水线作业方式贴合生产实际</a:t>
              </a:r>
              <a:endParaRPr kumimoji="0" lang="en-US" sz="1600" i="0" u="none" strike="noStrike" kern="1200" cap="none" spc="40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C42D78A-798D-75AA-2D02-CFE7161E1799}"/>
                </a:ext>
              </a:extLst>
            </p:cNvPr>
            <p:cNvSpPr txBox="1"/>
            <p:nvPr/>
          </p:nvSpPr>
          <p:spPr>
            <a:xfrm>
              <a:off x="3881609" y="4103248"/>
              <a:ext cx="1684267" cy="584775"/>
            </a:xfrm>
            <a:prstGeom prst="rect">
              <a:avLst/>
            </a:prstGeom>
            <a:solidFill>
              <a:srgbClr val="E8FBE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视觉检测全覆盖样本</a:t>
              </a:r>
              <a:endParaRPr kumimoji="0" lang="en-US" sz="1600" i="0" u="none" strike="noStrike" kern="1200" cap="none" spc="40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038AFA5-02B2-3A63-2850-D1FF8E57936E}"/>
                </a:ext>
              </a:extLst>
            </p:cNvPr>
            <p:cNvSpPr txBox="1"/>
            <p:nvPr/>
          </p:nvSpPr>
          <p:spPr>
            <a:xfrm>
              <a:off x="5749156" y="4263141"/>
              <a:ext cx="1813685" cy="338554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算法难度上升</a:t>
              </a:r>
              <a:endParaRPr kumimoji="0" lang="en-US" sz="1600" i="0" u="none" strike="noStrike" kern="1200" cap="none" spc="40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C0DFD26-4059-6AD1-EE06-950171FA3302}"/>
                </a:ext>
              </a:extLst>
            </p:cNvPr>
            <p:cNvSpPr/>
            <p:nvPr/>
          </p:nvSpPr>
          <p:spPr>
            <a:xfrm>
              <a:off x="1843802" y="975118"/>
              <a:ext cx="8371430" cy="4142712"/>
            </a:xfrm>
            <a:prstGeom prst="rect">
              <a:avLst/>
            </a:prstGeom>
            <a:noFill/>
            <a:ln w="28575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1" name="梯形 20">
              <a:extLst>
                <a:ext uri="{FF2B5EF4-FFF2-40B4-BE49-F238E27FC236}">
                  <a16:creationId xmlns:a16="http://schemas.microsoft.com/office/drawing/2014/main" id="{6F77F3A1-0EFD-6707-769F-E64555FF6E81}"/>
                </a:ext>
              </a:extLst>
            </p:cNvPr>
            <p:cNvSpPr/>
            <p:nvPr/>
          </p:nvSpPr>
          <p:spPr>
            <a:xfrm rot="16200000">
              <a:off x="2940919" y="2707879"/>
              <a:ext cx="1865982" cy="233304"/>
            </a:xfrm>
            <a:prstGeom prst="trapezoid">
              <a:avLst>
                <a:gd name="adj" fmla="val 131591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2" name="梯形 21">
              <a:extLst>
                <a:ext uri="{FF2B5EF4-FFF2-40B4-BE49-F238E27FC236}">
                  <a16:creationId xmlns:a16="http://schemas.microsoft.com/office/drawing/2014/main" id="{D27E1DEE-AB3D-4F3A-442D-77A4C0FF79B0}"/>
                </a:ext>
              </a:extLst>
            </p:cNvPr>
            <p:cNvSpPr/>
            <p:nvPr/>
          </p:nvSpPr>
          <p:spPr>
            <a:xfrm rot="5400000">
              <a:off x="7215659" y="2835242"/>
              <a:ext cx="1865982" cy="233304"/>
            </a:xfrm>
            <a:prstGeom prst="trapezoid">
              <a:avLst>
                <a:gd name="adj" fmla="val 131591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3" name="梯形 22">
              <a:extLst>
                <a:ext uri="{FF2B5EF4-FFF2-40B4-BE49-F238E27FC236}">
                  <a16:creationId xmlns:a16="http://schemas.microsoft.com/office/drawing/2014/main" id="{802282BC-DEF3-95B6-B13B-06AB993491C4}"/>
                </a:ext>
              </a:extLst>
            </p:cNvPr>
            <p:cNvSpPr/>
            <p:nvPr/>
          </p:nvSpPr>
          <p:spPr>
            <a:xfrm>
              <a:off x="4830279" y="1169975"/>
              <a:ext cx="2234057" cy="194866"/>
            </a:xfrm>
            <a:prstGeom prst="trapezoid">
              <a:avLst>
                <a:gd name="adj" fmla="val 131591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3C273E0-1422-95CC-E41B-88D946EC3E88}"/>
                </a:ext>
              </a:extLst>
            </p:cNvPr>
            <p:cNvSpPr txBox="1"/>
            <p:nvPr/>
          </p:nvSpPr>
          <p:spPr>
            <a:xfrm>
              <a:off x="8133137" y="4144788"/>
              <a:ext cx="1786681" cy="58477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适应范围加大</a:t>
              </a:r>
              <a:endPara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速度上升</a:t>
              </a:r>
              <a:endParaRPr kumimoji="0" lang="en-US" sz="1600" i="0" u="none" strike="noStrike" kern="1200" cap="none" spc="40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287FD0B6-957A-A05A-E5BE-36B9B5EEEFE5}"/>
                </a:ext>
              </a:extLst>
            </p:cNvPr>
            <p:cNvCxnSpPr/>
            <p:nvPr/>
          </p:nvCxnSpPr>
          <p:spPr>
            <a:xfrm>
              <a:off x="1990837" y="2376393"/>
              <a:ext cx="136751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3A359159-339F-0E84-EE9D-E5E87D3B02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0837" y="2909179"/>
              <a:ext cx="1245403" cy="55166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20B1C797-B74B-E2EF-AB8C-0F7C6E80F765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2336057" y="2180136"/>
              <a:ext cx="445672" cy="101935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43384A31-3598-58C0-E480-E533C010443C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8727806" y="1992479"/>
              <a:ext cx="453689" cy="103768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E782823F-A991-1DAC-91FB-85B47218A7F5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234843" y="2667977"/>
              <a:ext cx="453689" cy="103768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07221077-17FA-1FA1-EA18-4EACD89C77F5}"/>
                </a:ext>
              </a:extLst>
            </p:cNvPr>
            <p:cNvSpPr/>
            <p:nvPr/>
          </p:nvSpPr>
          <p:spPr>
            <a:xfrm>
              <a:off x="7062059" y="2376393"/>
              <a:ext cx="908245" cy="151140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6" name="箭头: 上下 75">
              <a:extLst>
                <a:ext uri="{FF2B5EF4-FFF2-40B4-BE49-F238E27FC236}">
                  <a16:creationId xmlns:a16="http://schemas.microsoft.com/office/drawing/2014/main" id="{2FA8D512-5733-CB63-FB03-4C4CC218AAC6}"/>
                </a:ext>
              </a:extLst>
            </p:cNvPr>
            <p:cNvSpPr/>
            <p:nvPr/>
          </p:nvSpPr>
          <p:spPr>
            <a:xfrm>
              <a:off x="7225325" y="1403369"/>
              <a:ext cx="556390" cy="1528355"/>
            </a:xfrm>
            <a:prstGeom prst="upDownArrow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NG</a:t>
              </a:r>
              <a:r>
                <a:rPr lang="zh-CN" altLang="en-US" sz="1600" dirty="0"/>
                <a:t>剔除</a:t>
              </a:r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51F85C0-5384-4CDF-EDAC-6DC94C485A1E}"/>
              </a:ext>
            </a:extLst>
          </p:cNvPr>
          <p:cNvSpPr txBox="1"/>
          <p:nvPr/>
        </p:nvSpPr>
        <p:spPr>
          <a:xfrm>
            <a:off x="1730423" y="4860179"/>
            <a:ext cx="8861714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1600" b="1" spc="4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  <a:sym typeface="+mn-lt"/>
              </a:rPr>
              <a:t>第三版</a:t>
            </a:r>
            <a:r>
              <a:rPr lang="zh-CN" altLang="en-US" sz="1600" b="1" spc="400" dirty="0">
                <a:latin typeface="+mn-ea"/>
                <a:cs typeface="Times New Roman" panose="02020603050405020304" pitchFamily="18" charset="0"/>
                <a:sym typeface="+mn-lt"/>
              </a:rPr>
              <a:t>手机点胶检测设计基本原则</a:t>
            </a:r>
            <a:endParaRPr lang="en-US" altLang="zh-CN" sz="1600" b="1" spc="400" dirty="0">
              <a:latin typeface="+mn-ea"/>
              <a:cs typeface="Times New Roman" panose="02020603050405020304" pitchFamily="18" charset="0"/>
              <a:sym typeface="+mn-lt"/>
            </a:endParaRPr>
          </a:p>
          <a:p>
            <a:pPr algn="ctr">
              <a:defRPr/>
            </a:pPr>
            <a:endParaRPr lang="en-US" altLang="zh-CN" sz="1600" b="1" spc="400" dirty="0">
              <a:latin typeface="+mn-ea"/>
              <a:cs typeface="Times New Roman" panose="02020603050405020304" pitchFamily="18" charset="0"/>
              <a:sym typeface="+mn-lt"/>
            </a:endParaRPr>
          </a:p>
          <a:p>
            <a:pPr lvl="0">
              <a:defRPr/>
            </a:pPr>
            <a:r>
              <a:rPr lang="en-US" altLang="zh-CN" sz="1600" b="1" spc="400" dirty="0">
                <a:latin typeface="+mn-ea"/>
                <a:cs typeface="Times New Roman" panose="02020603050405020304" pitchFamily="18" charset="0"/>
                <a:sym typeface="+mn-lt"/>
              </a:rPr>
              <a:t>1.</a:t>
            </a:r>
            <a:r>
              <a:rPr lang="zh-CN" altLang="en-US" sz="1600" b="1" spc="400" dirty="0">
                <a:latin typeface="+mn-ea"/>
                <a:cs typeface="Times New Roman" panose="02020603050405020304" pitchFamily="18" charset="0"/>
                <a:sym typeface="+mn-lt"/>
              </a:rPr>
              <a:t>拿取方便速度提升，半开放式上料出料。便于操作；</a:t>
            </a:r>
          </a:p>
          <a:p>
            <a:pPr lvl="0">
              <a:defRPr/>
            </a:pPr>
            <a:r>
              <a:rPr lang="en-US" altLang="zh-CN" sz="1600" b="1" spc="400" dirty="0">
                <a:latin typeface="+mn-ea"/>
                <a:cs typeface="Times New Roman" panose="02020603050405020304" pitchFamily="18" charset="0"/>
                <a:sym typeface="+mn-lt"/>
              </a:rPr>
              <a:t>2.</a:t>
            </a:r>
            <a:r>
              <a:rPr lang="zh-CN" altLang="en-US" sz="1600" b="1" spc="400" dirty="0">
                <a:latin typeface="+mn-ea"/>
                <a:cs typeface="Times New Roman" panose="02020603050405020304" pitchFamily="18" charset="0"/>
                <a:sym typeface="+mn-lt"/>
              </a:rPr>
              <a:t> 良品出料和</a:t>
            </a:r>
            <a:r>
              <a:rPr lang="en-US" altLang="zh-CN" sz="1600" b="1" spc="400" dirty="0">
                <a:latin typeface="+mn-ea"/>
                <a:cs typeface="Times New Roman" panose="02020603050405020304" pitchFamily="18" charset="0"/>
                <a:sym typeface="+mn-lt"/>
              </a:rPr>
              <a:t>NG</a:t>
            </a:r>
            <a:r>
              <a:rPr lang="zh-CN" altLang="en-US" sz="1600" b="1" spc="400" dirty="0">
                <a:latin typeface="+mn-ea"/>
                <a:cs typeface="Times New Roman" panose="02020603050405020304" pitchFamily="18" charset="0"/>
                <a:sym typeface="+mn-lt"/>
              </a:rPr>
              <a:t>出料口共用一个传送带；</a:t>
            </a:r>
          </a:p>
          <a:p>
            <a:pPr lvl="0">
              <a:defRPr/>
            </a:pPr>
            <a:r>
              <a:rPr lang="en-US" altLang="zh-CN" sz="1600" b="1" spc="400" dirty="0">
                <a:latin typeface="+mn-ea"/>
                <a:cs typeface="Times New Roman" panose="02020603050405020304" pitchFamily="18" charset="0"/>
                <a:sym typeface="+mn-lt"/>
              </a:rPr>
              <a:t>3.</a:t>
            </a:r>
            <a:r>
              <a:rPr lang="zh-CN" altLang="en-US" sz="1600" b="1" spc="400" dirty="0">
                <a:latin typeface="+mn-ea"/>
                <a:cs typeface="Times New Roman" panose="02020603050405020304" pitchFamily="18" charset="0"/>
                <a:sym typeface="+mn-lt"/>
              </a:rPr>
              <a:t>封闭式视觉检测区，提升</a:t>
            </a:r>
            <a:r>
              <a:rPr lang="zh-CN" altLang="en-US" sz="1600" b="1" spc="4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  <a:sym typeface="+mn-lt"/>
              </a:rPr>
              <a:t>相机精度与</a:t>
            </a:r>
            <a:r>
              <a:rPr lang="zh-CN" altLang="en-US" sz="1600" b="1" spc="400" dirty="0">
                <a:latin typeface="+mn-ea"/>
                <a:cs typeface="Times New Roman" panose="02020603050405020304" pitchFamily="18" charset="0"/>
                <a:sym typeface="+mn-lt"/>
              </a:rPr>
              <a:t>视场范围，尽可能排除干扰；</a:t>
            </a:r>
          </a:p>
          <a:p>
            <a:pPr lvl="0">
              <a:defRPr/>
            </a:pPr>
            <a:r>
              <a:rPr lang="en-US" altLang="zh-CN" sz="1600" b="1" spc="400" dirty="0">
                <a:latin typeface="+mn-ea"/>
                <a:cs typeface="Times New Roman" panose="02020603050405020304" pitchFamily="18" charset="0"/>
                <a:sym typeface="+mn-lt"/>
              </a:rPr>
              <a:t>4.</a:t>
            </a:r>
            <a:r>
              <a:rPr lang="zh-CN" altLang="en-US" sz="1600" b="1" spc="400" dirty="0">
                <a:latin typeface="+mn-ea"/>
                <a:cs typeface="Times New Roman" panose="02020603050405020304" pitchFamily="18" charset="0"/>
                <a:sym typeface="+mn-lt"/>
              </a:rPr>
              <a:t>提升</a:t>
            </a:r>
            <a:r>
              <a:rPr lang="zh-CN" altLang="en-US" sz="1600" b="1" spc="4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  <a:sym typeface="+mn-lt"/>
              </a:rPr>
              <a:t>算法难度与</a:t>
            </a:r>
            <a:r>
              <a:rPr lang="zh-CN" altLang="en-US" sz="1600" b="1" spc="400" dirty="0">
                <a:latin typeface="+mn-ea"/>
                <a:cs typeface="Times New Roman" panose="02020603050405020304" pitchFamily="18" charset="0"/>
                <a:sym typeface="+mn-lt"/>
              </a:rPr>
              <a:t>速度，匹配流水线作业特点；</a:t>
            </a:r>
          </a:p>
          <a:p>
            <a:pPr lvl="0">
              <a:defRPr/>
            </a:pPr>
            <a:r>
              <a:rPr lang="en-US" altLang="zh-CN" sz="1600" b="1" spc="400" dirty="0">
                <a:latin typeface="+mn-ea"/>
                <a:cs typeface="Times New Roman" panose="02020603050405020304" pitchFamily="18" charset="0"/>
                <a:sym typeface="+mn-lt"/>
              </a:rPr>
              <a:t>5.</a:t>
            </a:r>
            <a:r>
              <a:rPr lang="zh-CN" altLang="en-US" sz="1600" b="1" spc="400" dirty="0">
                <a:latin typeface="+mn-ea"/>
                <a:cs typeface="Times New Roman" panose="02020603050405020304" pitchFamily="18" charset="0"/>
                <a:sym typeface="+mn-lt"/>
              </a:rPr>
              <a:t>兼顾</a:t>
            </a:r>
            <a:r>
              <a:rPr lang="zh-CN" altLang="en-US" sz="1600" b="1" spc="4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  <a:sym typeface="+mn-lt"/>
              </a:rPr>
              <a:t>一期和二期项目</a:t>
            </a:r>
            <a:r>
              <a:rPr lang="zh-CN" altLang="en-US" sz="1600" b="1" spc="400" dirty="0">
                <a:latin typeface="+mn-ea"/>
                <a:cs typeface="Times New Roman" panose="02020603050405020304" pitchFamily="18" charset="0"/>
                <a:sym typeface="+mn-lt"/>
              </a:rPr>
              <a:t>配套，适用于产线六自由度机械人协同点胶机共同作业；</a:t>
            </a:r>
          </a:p>
        </p:txBody>
      </p:sp>
      <p:sp>
        <p:nvSpPr>
          <p:cNvPr id="120" name="箭头: 右 119">
            <a:extLst>
              <a:ext uri="{FF2B5EF4-FFF2-40B4-BE49-F238E27FC236}">
                <a16:creationId xmlns:a16="http://schemas.microsoft.com/office/drawing/2014/main" id="{C73608D6-B99D-D1D5-E61C-C377E89F639E}"/>
              </a:ext>
            </a:extLst>
          </p:cNvPr>
          <p:cNvSpPr/>
          <p:nvPr/>
        </p:nvSpPr>
        <p:spPr>
          <a:xfrm>
            <a:off x="742950" y="2205885"/>
            <a:ext cx="1133293" cy="56547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上料</a:t>
            </a:r>
          </a:p>
        </p:txBody>
      </p:sp>
      <p:sp>
        <p:nvSpPr>
          <p:cNvPr id="121" name="箭头: 右 120">
            <a:extLst>
              <a:ext uri="{FF2B5EF4-FFF2-40B4-BE49-F238E27FC236}">
                <a16:creationId xmlns:a16="http://schemas.microsoft.com/office/drawing/2014/main" id="{6731BC46-1C73-6810-BC81-75A0F0E759C6}"/>
              </a:ext>
            </a:extLst>
          </p:cNvPr>
          <p:cNvSpPr/>
          <p:nvPr/>
        </p:nvSpPr>
        <p:spPr>
          <a:xfrm>
            <a:off x="3038728" y="2188068"/>
            <a:ext cx="1133293" cy="565476"/>
          </a:xfrm>
          <a:prstGeom prst="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整线</a:t>
            </a:r>
          </a:p>
        </p:txBody>
      </p:sp>
      <p:sp>
        <p:nvSpPr>
          <p:cNvPr id="122" name="箭头: 右 121">
            <a:extLst>
              <a:ext uri="{FF2B5EF4-FFF2-40B4-BE49-F238E27FC236}">
                <a16:creationId xmlns:a16="http://schemas.microsoft.com/office/drawing/2014/main" id="{219C3F90-6A45-308F-8938-F5CE072153FB}"/>
              </a:ext>
            </a:extLst>
          </p:cNvPr>
          <p:cNvSpPr/>
          <p:nvPr/>
        </p:nvSpPr>
        <p:spPr>
          <a:xfrm>
            <a:off x="5259050" y="1587941"/>
            <a:ext cx="1133293" cy="565476"/>
          </a:xfrm>
          <a:prstGeom prst="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检测</a:t>
            </a:r>
          </a:p>
        </p:txBody>
      </p:sp>
      <p:sp>
        <p:nvSpPr>
          <p:cNvPr id="123" name="箭头: 右 122">
            <a:extLst>
              <a:ext uri="{FF2B5EF4-FFF2-40B4-BE49-F238E27FC236}">
                <a16:creationId xmlns:a16="http://schemas.microsoft.com/office/drawing/2014/main" id="{B81E9D21-7971-AFF0-5993-056ADD756EC0}"/>
              </a:ext>
            </a:extLst>
          </p:cNvPr>
          <p:cNvSpPr/>
          <p:nvPr/>
        </p:nvSpPr>
        <p:spPr>
          <a:xfrm>
            <a:off x="9437897" y="2034287"/>
            <a:ext cx="1592001" cy="565476"/>
          </a:xfrm>
          <a:prstGeom prst="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良品出料</a:t>
            </a:r>
          </a:p>
        </p:txBody>
      </p:sp>
      <p:sp>
        <p:nvSpPr>
          <p:cNvPr id="124" name="箭头: 右 123">
            <a:extLst>
              <a:ext uri="{FF2B5EF4-FFF2-40B4-BE49-F238E27FC236}">
                <a16:creationId xmlns:a16="http://schemas.microsoft.com/office/drawing/2014/main" id="{D2B18CB4-DB70-97D8-E38A-13BADE198CDC}"/>
              </a:ext>
            </a:extLst>
          </p:cNvPr>
          <p:cNvSpPr/>
          <p:nvPr/>
        </p:nvSpPr>
        <p:spPr>
          <a:xfrm>
            <a:off x="9427619" y="2701490"/>
            <a:ext cx="1592001" cy="565476"/>
          </a:xfrm>
          <a:prstGeom prst="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NG</a:t>
            </a:r>
            <a:r>
              <a:rPr lang="zh-CN" altLang="en-US" sz="1600" dirty="0"/>
              <a:t>出料</a:t>
            </a:r>
          </a:p>
        </p:txBody>
      </p:sp>
    </p:spTree>
    <p:extLst>
      <p:ext uri="{BB962C8B-B14F-4D97-AF65-F5344CB8AC3E}">
        <p14:creationId xmlns:p14="http://schemas.microsoft.com/office/powerpoint/2010/main" val="141437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ADC9F3D-C9FF-34F7-2A7A-F4D69ECED80B}"/>
              </a:ext>
            </a:extLst>
          </p:cNvPr>
          <p:cNvSpPr txBox="1"/>
          <p:nvPr/>
        </p:nvSpPr>
        <p:spPr>
          <a:xfrm>
            <a:off x="631714" y="840022"/>
            <a:ext cx="4288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spc="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第三版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手机点胶检测机器人三维效果</a:t>
            </a:r>
            <a:endParaRPr kumimoji="0" lang="en-US" sz="16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3C42C8F-7B41-5703-A11E-AE3D0370DE2F}"/>
              </a:ext>
            </a:extLst>
          </p:cNvPr>
          <p:cNvGrpSpPr/>
          <p:nvPr/>
        </p:nvGrpSpPr>
        <p:grpSpPr>
          <a:xfrm>
            <a:off x="0" y="0"/>
            <a:ext cx="541879" cy="533912"/>
            <a:chOff x="0" y="0"/>
            <a:chExt cx="1036639" cy="167640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BD95CFE-38CF-2036-C192-D88F6B07DA6F}"/>
                </a:ext>
              </a:extLst>
            </p:cNvPr>
            <p:cNvSpPr/>
            <p:nvPr/>
          </p:nvSpPr>
          <p:spPr>
            <a:xfrm flipH="1" flipV="1">
              <a:off x="626735" y="1"/>
              <a:ext cx="409904" cy="1676400"/>
            </a:xfrm>
            <a:prstGeom prst="rect">
              <a:avLst/>
            </a:prstGeom>
            <a:solidFill>
              <a:srgbClr val="2D84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B724F9F-D491-BC1E-BFF3-585DCADC45A3}"/>
                </a:ext>
              </a:extLst>
            </p:cNvPr>
            <p:cNvSpPr/>
            <p:nvPr/>
          </p:nvSpPr>
          <p:spPr>
            <a:xfrm flipH="1" flipV="1">
              <a:off x="0" y="0"/>
              <a:ext cx="409905" cy="16763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50E6DC6-0CA4-B8AE-8CEB-FCDF6413D8C6}"/>
              </a:ext>
            </a:extLst>
          </p:cNvPr>
          <p:cNvGrpSpPr/>
          <p:nvPr/>
        </p:nvGrpSpPr>
        <p:grpSpPr>
          <a:xfrm>
            <a:off x="4258204" y="9538"/>
            <a:ext cx="3852155" cy="705545"/>
            <a:chOff x="3869494" y="45817"/>
            <a:chExt cx="4901584" cy="73517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B00CA68-64E1-F7AE-4D9F-AE9539C8D1F1}"/>
                </a:ext>
              </a:extLst>
            </p:cNvPr>
            <p:cNvSpPr/>
            <p:nvPr/>
          </p:nvSpPr>
          <p:spPr>
            <a:xfrm>
              <a:off x="3869494" y="165523"/>
              <a:ext cx="4901584" cy="61547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D2E5386-AD69-D065-E015-27B343AB3040}"/>
                </a:ext>
              </a:extLst>
            </p:cNvPr>
            <p:cNvSpPr txBox="1"/>
            <p:nvPr/>
          </p:nvSpPr>
          <p:spPr>
            <a:xfrm>
              <a:off x="3869494" y="45817"/>
              <a:ext cx="4901584" cy="688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2-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第三版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-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设计原则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844B355-7036-1FB7-FD43-1D657AC621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1" t="2032" r="6575" b="1714"/>
          <a:stretch/>
        </p:blipFill>
        <p:spPr>
          <a:xfrm>
            <a:off x="156934" y="1330777"/>
            <a:ext cx="4855493" cy="52854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AB7A55C-56B1-5B4C-01A6-754AEA299803}"/>
              </a:ext>
            </a:extLst>
          </p:cNvPr>
          <p:cNvSpPr txBox="1"/>
          <p:nvPr/>
        </p:nvSpPr>
        <p:spPr>
          <a:xfrm>
            <a:off x="5356670" y="1330777"/>
            <a:ext cx="121058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光学系统</a:t>
            </a:r>
            <a:endParaRPr kumimoji="0" lang="en-US" sz="16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275CD4D-1E6C-EF14-3617-0E72031D6FBB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2649610" y="1500054"/>
            <a:ext cx="2707060" cy="64062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7F389432-3C4F-C076-7928-A9CA222D9728}"/>
              </a:ext>
            </a:extLst>
          </p:cNvPr>
          <p:cNvSpPr txBox="1"/>
          <p:nvPr/>
        </p:nvSpPr>
        <p:spPr>
          <a:xfrm>
            <a:off x="5100191" y="1988890"/>
            <a:ext cx="1723549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视觉检测系统</a:t>
            </a:r>
            <a:endParaRPr kumimoji="0" lang="en-US" sz="16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CED7E9A-540B-C13E-63E8-4CCEA3A66C2B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2735335" y="2158167"/>
            <a:ext cx="2364856" cy="20409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9D28C145-0027-63E0-2617-7627E475505C}"/>
              </a:ext>
            </a:extLst>
          </p:cNvPr>
          <p:cNvSpPr txBox="1"/>
          <p:nvPr/>
        </p:nvSpPr>
        <p:spPr>
          <a:xfrm>
            <a:off x="5228433" y="3305116"/>
            <a:ext cx="146706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工控一体机</a:t>
            </a:r>
            <a:endParaRPr kumimoji="0" lang="en-US" sz="16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B1D0689-CB3F-453F-316E-D8737B5844FB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3045204" y="2822862"/>
            <a:ext cx="2183229" cy="65153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7A235D7-2577-9ABB-0756-0C38735027F5}"/>
              </a:ext>
            </a:extLst>
          </p:cNvPr>
          <p:cNvSpPr txBox="1"/>
          <p:nvPr/>
        </p:nvSpPr>
        <p:spPr>
          <a:xfrm>
            <a:off x="5356673" y="3963229"/>
            <a:ext cx="121058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40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整线装置</a:t>
            </a:r>
            <a:endParaRPr kumimoji="0" lang="en-US" sz="16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15BF41D-3C30-ED8B-AD10-128CB245C01C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1426128" y="3690783"/>
            <a:ext cx="3930545" cy="44172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158AED3B-FFA9-D4DC-548E-6CCCC85454F5}"/>
              </a:ext>
            </a:extLst>
          </p:cNvPr>
          <p:cNvSpPr txBox="1"/>
          <p:nvPr/>
        </p:nvSpPr>
        <p:spPr>
          <a:xfrm>
            <a:off x="5228439" y="4621342"/>
            <a:ext cx="146706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一体传送带</a:t>
            </a:r>
            <a:endParaRPr kumimoji="0" lang="en-US" sz="16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D8BE1B8-BAC9-5221-E87C-F040B33FB187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964734" y="3860060"/>
            <a:ext cx="4263705" cy="9305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ED6D31C7-87E1-E656-592A-E350686343A8}"/>
              </a:ext>
            </a:extLst>
          </p:cNvPr>
          <p:cNvSpPr txBox="1"/>
          <p:nvPr/>
        </p:nvSpPr>
        <p:spPr>
          <a:xfrm>
            <a:off x="5023247" y="2647003"/>
            <a:ext cx="1877437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spc="400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NG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品</a:t>
            </a:r>
            <a:r>
              <a:rPr lang="zh-CN" altLang="en-US" sz="1600" b="1" spc="400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剔除装置</a:t>
            </a:r>
            <a:endParaRPr kumimoji="0" lang="en-US" sz="16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151F75B-419D-D4D0-41CD-961934C65AAF}"/>
              </a:ext>
            </a:extLst>
          </p:cNvPr>
          <p:cNvSpPr txBox="1"/>
          <p:nvPr/>
        </p:nvSpPr>
        <p:spPr>
          <a:xfrm>
            <a:off x="5356674" y="5279455"/>
            <a:ext cx="121058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控制模组</a:t>
            </a:r>
            <a:endParaRPr kumimoji="0" lang="en-US" sz="16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8BD4AF9-84D1-FB25-4445-F36749EACCB5}"/>
              </a:ext>
            </a:extLst>
          </p:cNvPr>
          <p:cNvSpPr txBox="1"/>
          <p:nvPr/>
        </p:nvSpPr>
        <p:spPr>
          <a:xfrm>
            <a:off x="5268148" y="5937569"/>
            <a:ext cx="121058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整机机架</a:t>
            </a:r>
            <a:endParaRPr kumimoji="0" lang="en-US" sz="16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D95DBFE-45FD-4A88-434C-C6179D1865F6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3269716" y="2816280"/>
            <a:ext cx="1753531" cy="37336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8F8C4C8-ECD1-D100-AA2D-5C5AC22BD0F2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2506735" y="5194617"/>
            <a:ext cx="2849939" cy="25411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AF68409B-AED7-0FB9-8CB1-BED1CC40FF17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4017840" y="5754465"/>
            <a:ext cx="1250308" cy="352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6E150943-7918-78CE-F484-7E28624D04B1}"/>
              </a:ext>
            </a:extLst>
          </p:cNvPr>
          <p:cNvSpPr txBox="1"/>
          <p:nvPr/>
        </p:nvSpPr>
        <p:spPr>
          <a:xfrm>
            <a:off x="6939945" y="860770"/>
            <a:ext cx="5033439" cy="57554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第三版设计目标</a:t>
            </a:r>
            <a:endParaRPr lang="en-US" altLang="zh-CN" sz="1600" b="1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lvl="0" algn="ctr">
              <a:defRPr/>
            </a:pPr>
            <a:endParaRPr lang="en-US" altLang="zh-CN" sz="1600" b="1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lvl="0">
              <a:defRPr/>
            </a:pPr>
            <a:r>
              <a:rPr lang="en-US" altLang="zh-CN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1.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第三版设计由封闭式改为</a:t>
            </a:r>
            <a:r>
              <a:rPr lang="zh-CN" altLang="en-US" sz="1600" b="1" spc="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半开放式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设计，便于人工操作和检测样本；</a:t>
            </a:r>
            <a:endParaRPr lang="en-US" altLang="zh-CN" sz="1600" b="1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lvl="0">
              <a:defRPr/>
            </a:pPr>
            <a:endParaRPr lang="en-US" altLang="zh-CN" sz="1600" b="1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lvl="0">
              <a:defRPr/>
            </a:pPr>
            <a:r>
              <a:rPr lang="en-US" altLang="zh-CN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2.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考虑产线样本检测速度</a:t>
            </a:r>
            <a:r>
              <a:rPr lang="en-US" altLang="zh-CN" sz="1600" b="1" spc="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3s/</a:t>
            </a:r>
            <a:r>
              <a:rPr lang="zh-CN" altLang="en-US" sz="1600" b="1" spc="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个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，设置整线位、缺陷检测位、</a:t>
            </a:r>
            <a:r>
              <a:rPr lang="en-US" altLang="zh-CN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NG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剔除位、样本出料位；</a:t>
            </a:r>
            <a:endParaRPr lang="en-US" altLang="zh-CN" sz="1600" b="1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lvl="0">
              <a:defRPr/>
            </a:pPr>
            <a:endParaRPr lang="en-US" altLang="zh-CN" sz="1600" b="1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lvl="0">
              <a:defRPr/>
            </a:pPr>
            <a:r>
              <a:rPr lang="en-US" altLang="zh-CN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3.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拿取方便速度提升，设置一体传送带引导样本运动，</a:t>
            </a:r>
            <a:r>
              <a:rPr lang="zh-CN" altLang="en-US" sz="1600" b="1" spc="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兼容良品出料线和</a:t>
            </a:r>
            <a:r>
              <a:rPr lang="en-US" altLang="zh-CN" sz="1600" b="1" spc="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NG</a:t>
            </a:r>
            <a:r>
              <a:rPr lang="zh-CN" altLang="en-US" sz="1600" b="1" spc="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出料线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；</a:t>
            </a:r>
            <a:endParaRPr lang="en-US" altLang="zh-CN" sz="1600" b="1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lvl="0">
              <a:defRPr/>
            </a:pPr>
            <a:endParaRPr lang="zh-CN" altLang="en-US" sz="1600" b="1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lvl="0">
              <a:defRPr/>
            </a:pPr>
            <a:r>
              <a:rPr lang="en-US" altLang="zh-CN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4.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增设由相机视觉检测、对射触发、位移模组设置的</a:t>
            </a:r>
            <a:r>
              <a:rPr lang="en-US" altLang="zh-CN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NG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品位移装置；</a:t>
            </a:r>
            <a:endParaRPr lang="en-US" altLang="zh-CN" sz="1600" b="1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lvl="0">
              <a:defRPr/>
            </a:pPr>
            <a:endParaRPr lang="zh-CN" altLang="en-US" sz="1600" b="1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lvl="0">
              <a:defRPr/>
            </a:pPr>
            <a:r>
              <a:rPr lang="en-US" altLang="zh-CN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5.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封闭式缺陷检测环境，搭配定制光学系统，提升</a:t>
            </a:r>
            <a:r>
              <a:rPr lang="zh-CN" altLang="en-US" sz="1600" b="1" spc="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相机检测精度与视场范围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，适应不同产品；</a:t>
            </a:r>
            <a:endParaRPr lang="en-US" altLang="zh-CN" sz="1600" b="1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lvl="0">
              <a:defRPr/>
            </a:pPr>
            <a:endParaRPr lang="zh-CN" altLang="en-US" sz="1600" b="1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lvl="0">
              <a:defRPr/>
            </a:pPr>
            <a:r>
              <a:rPr lang="en-US" altLang="zh-CN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6.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缺陷检测</a:t>
            </a:r>
            <a:r>
              <a:rPr lang="zh-CN" altLang="en-US" sz="1600" b="1" spc="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算法难度升级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，需加大算法响应速度；</a:t>
            </a:r>
            <a:endParaRPr lang="en-US" altLang="zh-CN" sz="1600" b="1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lvl="0">
              <a:defRPr/>
            </a:pPr>
            <a:endParaRPr lang="zh-CN" altLang="en-US" sz="1600" b="1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lvl="0">
              <a:defRPr/>
            </a:pPr>
            <a:r>
              <a:rPr lang="en-US" altLang="zh-CN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7.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兼顾</a:t>
            </a:r>
            <a:r>
              <a:rPr lang="zh-CN" altLang="en-US" sz="1600" b="1" spc="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一期和二期项目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配套，适用于产线六自由度机械人协同点胶机共同作业；</a:t>
            </a:r>
          </a:p>
        </p:txBody>
      </p:sp>
    </p:spTree>
    <p:extLst>
      <p:ext uri="{BB962C8B-B14F-4D97-AF65-F5344CB8AC3E}">
        <p14:creationId xmlns:p14="http://schemas.microsoft.com/office/powerpoint/2010/main" val="88396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6" grpId="0" animBg="1"/>
      <p:bldP spid="37" grpId="0" animBg="1"/>
      <p:bldP spid="5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>
            <a:extLst>
              <a:ext uri="{FF2B5EF4-FFF2-40B4-BE49-F238E27FC236}">
                <a16:creationId xmlns:a16="http://schemas.microsoft.com/office/drawing/2014/main" id="{742C0BF3-F64A-E46E-7D10-F7F1379F1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870" y="748377"/>
            <a:ext cx="1191245" cy="2779571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391CC7CF-17CB-60FB-6874-0643DBA09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1338467" y="4802758"/>
            <a:ext cx="3601551" cy="129927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899A3D6-6628-C95B-9514-07E4BBD6B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7758" y="732278"/>
            <a:ext cx="3342260" cy="2827224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E1EED63D-624A-6505-83BA-1D0E31E50126}"/>
              </a:ext>
            </a:extLst>
          </p:cNvPr>
          <p:cNvGrpSpPr/>
          <p:nvPr/>
        </p:nvGrpSpPr>
        <p:grpSpPr>
          <a:xfrm>
            <a:off x="2382839" y="-45365"/>
            <a:ext cx="7426321" cy="705545"/>
            <a:chOff x="3869494" y="45817"/>
            <a:chExt cx="4901584" cy="73517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85068C7-77DA-E2F2-4DEC-C74AED56B3A2}"/>
                </a:ext>
              </a:extLst>
            </p:cNvPr>
            <p:cNvSpPr/>
            <p:nvPr/>
          </p:nvSpPr>
          <p:spPr>
            <a:xfrm>
              <a:off x="3869494" y="165523"/>
              <a:ext cx="4901584" cy="61547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8C06BF1-4C3F-876E-97FC-880B47D9AA13}"/>
                </a:ext>
              </a:extLst>
            </p:cNvPr>
            <p:cNvSpPr txBox="1"/>
            <p:nvPr/>
          </p:nvSpPr>
          <p:spPr>
            <a:xfrm>
              <a:off x="3869494" y="45817"/>
              <a:ext cx="4901584" cy="690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3-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设备基本三轴尺寸参数及布局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B9A7267-BEF4-10D2-F2B5-D60F704D278E}"/>
              </a:ext>
            </a:extLst>
          </p:cNvPr>
          <p:cNvGrpSpPr/>
          <p:nvPr/>
        </p:nvGrpSpPr>
        <p:grpSpPr>
          <a:xfrm>
            <a:off x="0" y="0"/>
            <a:ext cx="541879" cy="533912"/>
            <a:chOff x="0" y="0"/>
            <a:chExt cx="1036639" cy="167640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32C869E-E053-E7B6-7803-25332CEAFAF9}"/>
                </a:ext>
              </a:extLst>
            </p:cNvPr>
            <p:cNvSpPr/>
            <p:nvPr/>
          </p:nvSpPr>
          <p:spPr>
            <a:xfrm flipH="1" flipV="1">
              <a:off x="626735" y="1"/>
              <a:ext cx="409904" cy="1676400"/>
            </a:xfrm>
            <a:prstGeom prst="rect">
              <a:avLst/>
            </a:prstGeom>
            <a:solidFill>
              <a:srgbClr val="2D84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85F12FB-FFD7-7DE7-A40F-062FBF416D89}"/>
                </a:ext>
              </a:extLst>
            </p:cNvPr>
            <p:cNvSpPr/>
            <p:nvPr/>
          </p:nvSpPr>
          <p:spPr>
            <a:xfrm flipH="1" flipV="1">
              <a:off x="0" y="0"/>
              <a:ext cx="409905" cy="16763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B39F7FA-908B-E564-BA5D-4E08F9D532E4}"/>
              </a:ext>
            </a:extLst>
          </p:cNvPr>
          <p:cNvCxnSpPr>
            <a:cxnSpLocks/>
          </p:cNvCxnSpPr>
          <p:nvPr/>
        </p:nvCxnSpPr>
        <p:spPr>
          <a:xfrm>
            <a:off x="434745" y="3783435"/>
            <a:ext cx="11108506" cy="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F8B10AB-EFCD-5642-8627-7F85A904425A}"/>
              </a:ext>
            </a:extLst>
          </p:cNvPr>
          <p:cNvCxnSpPr>
            <a:cxnSpLocks/>
          </p:cNvCxnSpPr>
          <p:nvPr/>
        </p:nvCxnSpPr>
        <p:spPr>
          <a:xfrm>
            <a:off x="6291746" y="1001564"/>
            <a:ext cx="67112" cy="5734796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5220CF2-907D-BE18-B018-9FE2CD88DA88}"/>
              </a:ext>
            </a:extLst>
          </p:cNvPr>
          <p:cNvCxnSpPr>
            <a:cxnSpLocks/>
          </p:cNvCxnSpPr>
          <p:nvPr/>
        </p:nvCxnSpPr>
        <p:spPr>
          <a:xfrm>
            <a:off x="6325302" y="3783435"/>
            <a:ext cx="552737" cy="456235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6191D26C-8233-3440-188B-3A7B3D22747D}"/>
              </a:ext>
            </a:extLst>
          </p:cNvPr>
          <p:cNvSpPr txBox="1"/>
          <p:nvPr/>
        </p:nvSpPr>
        <p:spPr>
          <a:xfrm>
            <a:off x="258870" y="2037584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主视图</a:t>
            </a:r>
            <a:endParaRPr kumimoji="0" lang="en-US" sz="1600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A380384-688A-5FAD-9978-C24CE3D07D08}"/>
              </a:ext>
            </a:extLst>
          </p:cNvPr>
          <p:cNvSpPr txBox="1"/>
          <p:nvPr/>
        </p:nvSpPr>
        <p:spPr>
          <a:xfrm>
            <a:off x="327611" y="5312394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俯视图</a:t>
            </a:r>
            <a:endParaRPr kumimoji="0" lang="en-US" sz="1600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305EF86-6B9B-0DA0-8341-775076314185}"/>
              </a:ext>
            </a:extLst>
          </p:cNvPr>
          <p:cNvSpPr txBox="1"/>
          <p:nvPr/>
        </p:nvSpPr>
        <p:spPr>
          <a:xfrm>
            <a:off x="10470970" y="1820120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侧视图</a:t>
            </a:r>
            <a:endParaRPr kumimoji="0" lang="en-US" sz="1600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24B4BFE-9412-F970-C652-A020E4662468}"/>
              </a:ext>
            </a:extLst>
          </p:cNvPr>
          <p:cNvCxnSpPr>
            <a:cxnSpLocks/>
          </p:cNvCxnSpPr>
          <p:nvPr/>
        </p:nvCxnSpPr>
        <p:spPr>
          <a:xfrm>
            <a:off x="2281806" y="3625082"/>
            <a:ext cx="1908916" cy="21503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254BD1C4-FA5C-D566-F796-73BA3EA7905F}"/>
              </a:ext>
            </a:extLst>
          </p:cNvPr>
          <p:cNvSpPr txBox="1"/>
          <p:nvPr/>
        </p:nvSpPr>
        <p:spPr>
          <a:xfrm>
            <a:off x="2820139" y="3327201"/>
            <a:ext cx="1069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800mm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E96758C-29AD-B9EF-38FA-28200B17E317}"/>
              </a:ext>
            </a:extLst>
          </p:cNvPr>
          <p:cNvCxnSpPr>
            <a:cxnSpLocks/>
          </p:cNvCxnSpPr>
          <p:nvPr/>
        </p:nvCxnSpPr>
        <p:spPr>
          <a:xfrm>
            <a:off x="8196044" y="3700702"/>
            <a:ext cx="1014601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2DD2AFB-464C-0955-FFF5-2740060EDBB7}"/>
              </a:ext>
            </a:extLst>
          </p:cNvPr>
          <p:cNvSpPr txBox="1"/>
          <p:nvPr/>
        </p:nvSpPr>
        <p:spPr>
          <a:xfrm>
            <a:off x="5078130" y="1959443"/>
            <a:ext cx="1305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1200mm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7E11222-A90C-CA05-43B7-7DC923C64F74}"/>
              </a:ext>
            </a:extLst>
          </p:cNvPr>
          <p:cNvCxnSpPr>
            <a:cxnSpLocks/>
          </p:cNvCxnSpPr>
          <p:nvPr/>
        </p:nvCxnSpPr>
        <p:spPr>
          <a:xfrm flipV="1">
            <a:off x="5124973" y="880473"/>
            <a:ext cx="0" cy="2607969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D55FC0E3-28FE-CD0B-98B6-9BDDF801F038}"/>
              </a:ext>
            </a:extLst>
          </p:cNvPr>
          <p:cNvSpPr txBox="1"/>
          <p:nvPr/>
        </p:nvSpPr>
        <p:spPr>
          <a:xfrm>
            <a:off x="8981512" y="3303308"/>
            <a:ext cx="1069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360mm</a:t>
            </a:r>
          </a:p>
        </p:txBody>
      </p:sp>
      <p:graphicFrame>
        <p:nvGraphicFramePr>
          <p:cNvPr id="42" name="表格 42">
            <a:extLst>
              <a:ext uri="{FF2B5EF4-FFF2-40B4-BE49-F238E27FC236}">
                <a16:creationId xmlns:a16="http://schemas.microsoft.com/office/drawing/2014/main" id="{80FD3421-F658-7337-4BFB-C2BFC8DDA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690851"/>
              </p:ext>
            </p:extLst>
          </p:nvPr>
        </p:nvGraphicFramePr>
        <p:xfrm>
          <a:off x="6878039" y="4570714"/>
          <a:ext cx="4665212" cy="14833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332606">
                  <a:extLst>
                    <a:ext uri="{9D8B030D-6E8A-4147-A177-3AD203B41FA5}">
                      <a16:colId xmlns:a16="http://schemas.microsoft.com/office/drawing/2014/main" val="2019967239"/>
                    </a:ext>
                  </a:extLst>
                </a:gridCol>
                <a:gridCol w="2332606">
                  <a:extLst>
                    <a:ext uri="{9D8B030D-6E8A-4147-A177-3AD203B41FA5}">
                      <a16:colId xmlns:a16="http://schemas.microsoft.com/office/drawing/2014/main" val="1186477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项目名称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参数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37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整机三维尺寸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1200x360x1200mm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389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整机重量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小于等于</a:t>
                      </a:r>
                      <a:r>
                        <a:rPr lang="en-US" altLang="zh-CN" dirty="0"/>
                        <a:t>50kg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079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占地面积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0.288m</a:t>
                      </a:r>
                      <a:r>
                        <a:rPr lang="en-US" altLang="zh-CN" baseline="30000" dirty="0"/>
                        <a:t>2</a:t>
                      </a:r>
                      <a:endParaRPr lang="zh-CN" altLang="en-US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406782"/>
                  </a:ext>
                </a:extLst>
              </a:tr>
            </a:tbl>
          </a:graphicData>
        </a:graphic>
      </p:graphicFrame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44D73FC5-6FC4-5AEB-34A6-C2A386D92AC5}"/>
              </a:ext>
            </a:extLst>
          </p:cNvPr>
          <p:cNvCxnSpPr>
            <a:cxnSpLocks/>
          </p:cNvCxnSpPr>
          <p:nvPr/>
        </p:nvCxnSpPr>
        <p:spPr>
          <a:xfrm>
            <a:off x="2211596" y="4642113"/>
            <a:ext cx="1979126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BD474BB4-FB8D-FC1C-6389-70C94574F802}"/>
              </a:ext>
            </a:extLst>
          </p:cNvPr>
          <p:cNvSpPr txBox="1"/>
          <p:nvPr/>
        </p:nvSpPr>
        <p:spPr>
          <a:xfrm>
            <a:off x="2769391" y="4232160"/>
            <a:ext cx="1069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800mm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43C9E59-3082-AC5E-1BD8-C2759210E5EC}"/>
              </a:ext>
            </a:extLst>
          </p:cNvPr>
          <p:cNvSpPr txBox="1"/>
          <p:nvPr/>
        </p:nvSpPr>
        <p:spPr>
          <a:xfrm>
            <a:off x="4904743" y="5251975"/>
            <a:ext cx="1305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360mm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D12B5AC3-B3F8-6138-CD0E-212F198508B9}"/>
              </a:ext>
            </a:extLst>
          </p:cNvPr>
          <p:cNvCxnSpPr>
            <a:cxnSpLocks/>
          </p:cNvCxnSpPr>
          <p:nvPr/>
        </p:nvCxnSpPr>
        <p:spPr>
          <a:xfrm flipH="1" flipV="1">
            <a:off x="4940018" y="4949505"/>
            <a:ext cx="7291" cy="1159258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6C37A774-F28C-4A30-93FB-C47F7C06E042}"/>
              </a:ext>
            </a:extLst>
          </p:cNvPr>
          <p:cNvSpPr txBox="1"/>
          <p:nvPr/>
        </p:nvSpPr>
        <p:spPr>
          <a:xfrm>
            <a:off x="6472850" y="1978846"/>
            <a:ext cx="1305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1200mm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C040068E-3976-693B-4C15-EE22169DD3A1}"/>
              </a:ext>
            </a:extLst>
          </p:cNvPr>
          <p:cNvCxnSpPr>
            <a:cxnSpLocks/>
          </p:cNvCxnSpPr>
          <p:nvPr/>
        </p:nvCxnSpPr>
        <p:spPr>
          <a:xfrm flipV="1">
            <a:off x="7778711" y="859426"/>
            <a:ext cx="0" cy="2613159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FC8B25D-4B34-9A9F-DD7B-0D5A8C798A66}"/>
              </a:ext>
            </a:extLst>
          </p:cNvPr>
          <p:cNvCxnSpPr>
            <a:cxnSpLocks/>
          </p:cNvCxnSpPr>
          <p:nvPr/>
        </p:nvCxnSpPr>
        <p:spPr>
          <a:xfrm flipV="1">
            <a:off x="1597758" y="1896616"/>
            <a:ext cx="0" cy="1591826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DF5595E-E2A9-9706-51BE-32EBC50F4493}"/>
              </a:ext>
            </a:extLst>
          </p:cNvPr>
          <p:cNvCxnSpPr>
            <a:cxnSpLocks/>
          </p:cNvCxnSpPr>
          <p:nvPr/>
        </p:nvCxnSpPr>
        <p:spPr>
          <a:xfrm flipH="1" flipV="1">
            <a:off x="1782361" y="1501354"/>
            <a:ext cx="3007173" cy="23773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CDFDD0D-86B0-3727-D072-FB2CFCE347A9}"/>
              </a:ext>
            </a:extLst>
          </p:cNvPr>
          <p:cNvSpPr txBox="1"/>
          <p:nvPr/>
        </p:nvSpPr>
        <p:spPr>
          <a:xfrm>
            <a:off x="3691153" y="1126288"/>
            <a:ext cx="1305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1200mm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6A115F-D6C2-2885-8C8A-46CF6E62ADAA}"/>
              </a:ext>
            </a:extLst>
          </p:cNvPr>
          <p:cNvSpPr txBox="1"/>
          <p:nvPr/>
        </p:nvSpPr>
        <p:spPr>
          <a:xfrm>
            <a:off x="454422" y="2501854"/>
            <a:ext cx="1305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700mm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990D634A-D081-5651-0AE5-4A61A7C5E156}"/>
              </a:ext>
            </a:extLst>
          </p:cNvPr>
          <p:cNvCxnSpPr>
            <a:cxnSpLocks/>
          </p:cNvCxnSpPr>
          <p:nvPr/>
        </p:nvCxnSpPr>
        <p:spPr>
          <a:xfrm>
            <a:off x="1677858" y="6212252"/>
            <a:ext cx="931118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D432659-B332-4ECD-DABE-6839CBC688A9}"/>
              </a:ext>
            </a:extLst>
          </p:cNvPr>
          <p:cNvCxnSpPr>
            <a:cxnSpLocks/>
          </p:cNvCxnSpPr>
          <p:nvPr/>
        </p:nvCxnSpPr>
        <p:spPr>
          <a:xfrm>
            <a:off x="2657333" y="6212252"/>
            <a:ext cx="931118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110112F-4732-DFCD-AAB0-96C0250FB268}"/>
              </a:ext>
            </a:extLst>
          </p:cNvPr>
          <p:cNvCxnSpPr>
            <a:cxnSpLocks/>
          </p:cNvCxnSpPr>
          <p:nvPr/>
        </p:nvCxnSpPr>
        <p:spPr>
          <a:xfrm>
            <a:off x="3596562" y="6212252"/>
            <a:ext cx="931118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EED66E16-5BA0-C42C-BBF6-E37FB6EAE3DF}"/>
              </a:ext>
            </a:extLst>
          </p:cNvPr>
          <p:cNvSpPr txBox="1"/>
          <p:nvPr/>
        </p:nvSpPr>
        <p:spPr>
          <a:xfrm>
            <a:off x="1677858" y="6322475"/>
            <a:ext cx="1069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400mm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7B173AC-EDBA-F9BC-0B33-5C63692FD6C1}"/>
              </a:ext>
            </a:extLst>
          </p:cNvPr>
          <p:cNvSpPr txBox="1"/>
          <p:nvPr/>
        </p:nvSpPr>
        <p:spPr>
          <a:xfrm>
            <a:off x="2680523" y="6322475"/>
            <a:ext cx="1069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400mm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831940E-0BC6-E452-2485-4CCBB3BF108E}"/>
              </a:ext>
            </a:extLst>
          </p:cNvPr>
          <p:cNvSpPr txBox="1"/>
          <p:nvPr/>
        </p:nvSpPr>
        <p:spPr>
          <a:xfrm>
            <a:off x="3691153" y="6344203"/>
            <a:ext cx="1069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400mm</a:t>
            </a: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AA18F46A-325D-64B2-E606-962702D5F702}"/>
              </a:ext>
            </a:extLst>
          </p:cNvPr>
          <p:cNvCxnSpPr>
            <a:cxnSpLocks/>
          </p:cNvCxnSpPr>
          <p:nvPr/>
        </p:nvCxnSpPr>
        <p:spPr>
          <a:xfrm flipV="1">
            <a:off x="9516273" y="1838316"/>
            <a:ext cx="0" cy="1591826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1E693B8-2EE1-93E8-ACBB-6A8776335BC0}"/>
              </a:ext>
            </a:extLst>
          </p:cNvPr>
          <p:cNvSpPr txBox="1"/>
          <p:nvPr/>
        </p:nvSpPr>
        <p:spPr>
          <a:xfrm>
            <a:off x="9388697" y="2637628"/>
            <a:ext cx="1305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700mm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E434F83-F853-5466-467E-C8E4FD618109}"/>
              </a:ext>
            </a:extLst>
          </p:cNvPr>
          <p:cNvSpPr txBox="1"/>
          <p:nvPr/>
        </p:nvSpPr>
        <p:spPr>
          <a:xfrm>
            <a:off x="152602" y="796736"/>
            <a:ext cx="1723549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缺陷检测工位</a:t>
            </a:r>
            <a:endParaRPr kumimoji="0" lang="en-US" sz="16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F7D7A4FB-353C-9B63-C6B6-41559C5197C6}"/>
              </a:ext>
            </a:extLst>
          </p:cNvPr>
          <p:cNvCxnSpPr>
            <a:cxnSpLocks/>
            <a:endCxn id="61" idx="3"/>
          </p:cNvCxnSpPr>
          <p:nvPr/>
        </p:nvCxnSpPr>
        <p:spPr>
          <a:xfrm flipH="1" flipV="1">
            <a:off x="1876151" y="966013"/>
            <a:ext cx="943988" cy="41817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24887273-77A2-F0CF-3024-992E6489D27C}"/>
              </a:ext>
            </a:extLst>
          </p:cNvPr>
          <p:cNvSpPr txBox="1"/>
          <p:nvPr/>
        </p:nvSpPr>
        <p:spPr>
          <a:xfrm>
            <a:off x="107138" y="3924403"/>
            <a:ext cx="1723549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控制模块单元</a:t>
            </a:r>
            <a:endParaRPr kumimoji="0" lang="en-US" sz="16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F90188B6-81A2-136C-573B-719E4AD165FA}"/>
              </a:ext>
            </a:extLst>
          </p:cNvPr>
          <p:cNvCxnSpPr>
            <a:cxnSpLocks/>
            <a:endCxn id="65" idx="3"/>
          </p:cNvCxnSpPr>
          <p:nvPr/>
        </p:nvCxnSpPr>
        <p:spPr>
          <a:xfrm flipH="1">
            <a:off x="1830687" y="2932448"/>
            <a:ext cx="1324316" cy="116123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D90BB5E0-F777-220E-5611-570958E0499E}"/>
              </a:ext>
            </a:extLst>
          </p:cNvPr>
          <p:cNvSpPr txBox="1"/>
          <p:nvPr/>
        </p:nvSpPr>
        <p:spPr>
          <a:xfrm>
            <a:off x="107134" y="6403776"/>
            <a:ext cx="121058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上料整线</a:t>
            </a:r>
            <a:endParaRPr kumimoji="0" lang="en-US" sz="16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9BE8A2B-B5B3-9270-08A4-AA6A02EBCA1E}"/>
              </a:ext>
            </a:extLst>
          </p:cNvPr>
          <p:cNvCxnSpPr>
            <a:cxnSpLocks/>
            <a:endCxn id="69" idx="3"/>
          </p:cNvCxnSpPr>
          <p:nvPr/>
        </p:nvCxnSpPr>
        <p:spPr>
          <a:xfrm flipH="1">
            <a:off x="1317722" y="5590529"/>
            <a:ext cx="706372" cy="98252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06157095-0AF7-488D-DB84-36A97154AB39}"/>
              </a:ext>
            </a:extLst>
          </p:cNvPr>
          <p:cNvSpPr txBox="1"/>
          <p:nvPr/>
        </p:nvSpPr>
        <p:spPr>
          <a:xfrm>
            <a:off x="4998606" y="6407745"/>
            <a:ext cx="1107996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NG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出料</a:t>
            </a:r>
            <a:endParaRPr kumimoji="0" lang="en-US" sz="16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C7AB4F92-BB6E-D81E-E70E-C389C6B176BB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4278451" y="5650948"/>
            <a:ext cx="720155" cy="92607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D794E2B0-C5EF-3379-F0AD-CE49C022710E}"/>
              </a:ext>
            </a:extLst>
          </p:cNvPr>
          <p:cNvSpPr txBox="1"/>
          <p:nvPr/>
        </p:nvSpPr>
        <p:spPr>
          <a:xfrm>
            <a:off x="5006506" y="3957141"/>
            <a:ext cx="121058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良品出料</a:t>
            </a:r>
            <a:endParaRPr kumimoji="0" lang="en-US" sz="16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47889B12-DBAE-0F13-1997-F2F10A4993E8}"/>
              </a:ext>
            </a:extLst>
          </p:cNvPr>
          <p:cNvCxnSpPr>
            <a:cxnSpLocks/>
            <a:endCxn id="77" idx="1"/>
          </p:cNvCxnSpPr>
          <p:nvPr/>
        </p:nvCxnSpPr>
        <p:spPr>
          <a:xfrm flipV="1">
            <a:off x="4105086" y="4126418"/>
            <a:ext cx="901420" cy="112305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6CC214C0-2D49-8D6C-8A9F-E53306B0335A}"/>
              </a:ext>
            </a:extLst>
          </p:cNvPr>
          <p:cNvSpPr txBox="1"/>
          <p:nvPr/>
        </p:nvSpPr>
        <p:spPr>
          <a:xfrm>
            <a:off x="10110667" y="832287"/>
            <a:ext cx="1620957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NG</a:t>
            </a:r>
            <a:r>
              <a:rPr lang="zh-CN" altLang="en-US" sz="1600" b="1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剔除装置</a:t>
            </a:r>
            <a:endParaRPr kumimoji="0" lang="en-US" sz="1600" b="1" i="0" u="none" strike="noStrike" kern="1200" cap="none" spc="4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FFF7BB66-6504-3E3B-A80F-712014F88919}"/>
              </a:ext>
            </a:extLst>
          </p:cNvPr>
          <p:cNvCxnSpPr>
            <a:cxnSpLocks/>
            <a:endCxn id="81" idx="1"/>
          </p:cNvCxnSpPr>
          <p:nvPr/>
        </p:nvCxnSpPr>
        <p:spPr>
          <a:xfrm flipV="1">
            <a:off x="8459882" y="1001564"/>
            <a:ext cx="1650785" cy="67091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25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5" grpId="0" animBg="1"/>
      <p:bldP spid="69" grpId="0" animBg="1"/>
      <p:bldP spid="73" grpId="0" animBg="1"/>
      <p:bldP spid="77" grpId="0" animBg="1"/>
      <p:bldP spid="8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4C4DBC8-51B9-9F55-9069-C32EC441C7D7}"/>
              </a:ext>
            </a:extLst>
          </p:cNvPr>
          <p:cNvGrpSpPr/>
          <p:nvPr/>
        </p:nvGrpSpPr>
        <p:grpSpPr>
          <a:xfrm>
            <a:off x="2382839" y="-45365"/>
            <a:ext cx="7426321" cy="705545"/>
            <a:chOff x="3869494" y="45817"/>
            <a:chExt cx="4901584" cy="73517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CD1B40E-C454-78C9-F671-6576E7064271}"/>
                </a:ext>
              </a:extLst>
            </p:cNvPr>
            <p:cNvSpPr/>
            <p:nvPr/>
          </p:nvSpPr>
          <p:spPr>
            <a:xfrm>
              <a:off x="3869494" y="165523"/>
              <a:ext cx="4901584" cy="61547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E1A59B09-87BD-C6F9-91D6-8B77A0503891}"/>
                </a:ext>
              </a:extLst>
            </p:cNvPr>
            <p:cNvSpPr txBox="1"/>
            <p:nvPr/>
          </p:nvSpPr>
          <p:spPr>
            <a:xfrm>
              <a:off x="3869494" y="45817"/>
              <a:ext cx="4901584" cy="690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4-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设备主要结构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-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整线、视觉检测、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NG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剔除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C091D48F-F1E1-9D96-74C7-C93167C3F848}"/>
              </a:ext>
            </a:extLst>
          </p:cNvPr>
          <p:cNvGrpSpPr/>
          <p:nvPr/>
        </p:nvGrpSpPr>
        <p:grpSpPr>
          <a:xfrm>
            <a:off x="0" y="0"/>
            <a:ext cx="541879" cy="533912"/>
            <a:chOff x="0" y="0"/>
            <a:chExt cx="1036639" cy="167640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9F786A1-EA7B-A0CE-299B-6ABA7F78860A}"/>
                </a:ext>
              </a:extLst>
            </p:cNvPr>
            <p:cNvSpPr/>
            <p:nvPr/>
          </p:nvSpPr>
          <p:spPr>
            <a:xfrm flipH="1" flipV="1">
              <a:off x="626735" y="1"/>
              <a:ext cx="409904" cy="1676400"/>
            </a:xfrm>
            <a:prstGeom prst="rect">
              <a:avLst/>
            </a:prstGeom>
            <a:solidFill>
              <a:srgbClr val="2D84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F19086E-845F-BBCA-F880-1480B54908D0}"/>
                </a:ext>
              </a:extLst>
            </p:cNvPr>
            <p:cNvSpPr/>
            <p:nvPr/>
          </p:nvSpPr>
          <p:spPr>
            <a:xfrm flipH="1" flipV="1">
              <a:off x="0" y="0"/>
              <a:ext cx="409905" cy="16763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E84C6E5A-AA5C-1B32-1DC3-74F295639133}"/>
              </a:ext>
            </a:extLst>
          </p:cNvPr>
          <p:cNvSpPr txBox="1"/>
          <p:nvPr/>
        </p:nvSpPr>
        <p:spPr>
          <a:xfrm>
            <a:off x="478129" y="4512159"/>
            <a:ext cx="11235739" cy="189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1.</a:t>
            </a: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配备上料整线工位，适应样本范围</a:t>
            </a: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200x100x50mm</a:t>
            </a: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（长</a:t>
            </a: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x</a:t>
            </a: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宽</a:t>
            </a: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x</a:t>
            </a: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高）；</a:t>
            </a:r>
            <a:endParaRPr lang="en-US" altLang="zh-CN" sz="1600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marL="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2.X/Z</a:t>
            </a: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轴各自配备微调平台，运动行程</a:t>
            </a: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200mm/100mm</a:t>
            </a: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实现两轴范围精确调整，精度</a:t>
            </a: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0.01mm</a:t>
            </a: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；</a:t>
            </a:r>
            <a:endParaRPr lang="en-US" altLang="zh-CN" sz="1600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marL="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2.</a:t>
            </a: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定制平面光源</a:t>
            </a: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200mmx300mm</a:t>
            </a: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配合工业相机保证成像细节的清晰；</a:t>
            </a:r>
            <a:endParaRPr lang="en-US" altLang="zh-CN" sz="1600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marL="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3.</a:t>
            </a: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侧面补充平面光源消除侧向阴影对点胶处的影响，营造良好的算法环境；</a:t>
            </a:r>
            <a:endParaRPr lang="en-US" altLang="zh-CN" sz="1600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marL="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5.</a:t>
            </a: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设置直线模组精度</a:t>
            </a: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0.05mm</a:t>
            </a: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，与对视觉检测算法搭配触发对射触发传感器设计</a:t>
            </a:r>
            <a:r>
              <a:rPr lang="en-US" altLang="zh-CN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NG</a:t>
            </a:r>
            <a:r>
              <a:rPr lang="zh-CN" altLang="en-US" sz="16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剔除装置；</a:t>
            </a:r>
            <a:endParaRPr lang="en-US" altLang="zh-CN" sz="1600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F9BABA71-010F-6127-6A90-6CDB22F3A80D}"/>
              </a:ext>
            </a:extLst>
          </p:cNvPr>
          <p:cNvGrpSpPr/>
          <p:nvPr/>
        </p:nvGrpSpPr>
        <p:grpSpPr>
          <a:xfrm>
            <a:off x="3827518" y="903378"/>
            <a:ext cx="4389377" cy="3279087"/>
            <a:chOff x="7037074" y="918579"/>
            <a:chExt cx="4389377" cy="3279087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3932F43-CDB2-D927-F0F3-48D106124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37074" y="1188379"/>
              <a:ext cx="2875828" cy="2612751"/>
            </a:xfrm>
            <a:prstGeom prst="rect">
              <a:avLst/>
            </a:prstGeom>
          </p:spPr>
        </p:pic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9A025DDA-9BF0-E59A-FB52-B50485CD30F4}"/>
                </a:ext>
              </a:extLst>
            </p:cNvPr>
            <p:cNvSpPr txBox="1"/>
            <p:nvPr/>
          </p:nvSpPr>
          <p:spPr>
            <a:xfrm>
              <a:off x="10297539" y="2296512"/>
              <a:ext cx="1119885" cy="307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光源系统</a:t>
              </a:r>
              <a:endParaRPr lang="en-US" altLang="zh-CN" sz="14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581892D1-0737-F501-D551-5E690D777C46}"/>
                </a:ext>
              </a:extLst>
            </p:cNvPr>
            <p:cNvSpPr txBox="1"/>
            <p:nvPr/>
          </p:nvSpPr>
          <p:spPr>
            <a:xfrm>
              <a:off x="10304950" y="918579"/>
              <a:ext cx="1121500" cy="5232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X/Z</a:t>
              </a:r>
              <a:r>
                <a:rPr lang="zh-CN" altLang="en-US" sz="14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轴微调平台</a:t>
              </a:r>
              <a:endParaRPr lang="en-US" altLang="zh-CN" sz="14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84783FB-D667-4AD6-CE14-4058AE5B22F1}"/>
                </a:ext>
              </a:extLst>
            </p:cNvPr>
            <p:cNvSpPr txBox="1"/>
            <p:nvPr/>
          </p:nvSpPr>
          <p:spPr>
            <a:xfrm>
              <a:off x="10289739" y="2877757"/>
              <a:ext cx="1119885" cy="5232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侧向补充平面光源</a:t>
              </a:r>
              <a:endParaRPr lang="en-US" altLang="zh-CN" sz="14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1E1FAEC-C6BA-DE71-6072-E13025A36194}"/>
                </a:ext>
              </a:extLst>
            </p:cNvPr>
            <p:cNvCxnSpPr>
              <a:cxnSpLocks/>
              <a:stCxn id="34" idx="1"/>
            </p:cNvCxnSpPr>
            <p:nvPr/>
          </p:nvCxnSpPr>
          <p:spPr>
            <a:xfrm flipH="1">
              <a:off x="8534400" y="1180189"/>
              <a:ext cx="1770550" cy="28749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822D89C-3AAF-9FC0-75E1-AD0293FD86B8}"/>
                </a:ext>
              </a:extLst>
            </p:cNvPr>
            <p:cNvCxnSpPr>
              <a:cxnSpLocks/>
              <a:stCxn id="33" idx="1"/>
            </p:cNvCxnSpPr>
            <p:nvPr/>
          </p:nvCxnSpPr>
          <p:spPr>
            <a:xfrm flipH="1" flipV="1">
              <a:off x="8595360" y="2368671"/>
              <a:ext cx="1702179" cy="8173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477C94E-7CAE-B952-1C5F-2ED69DDEA360}"/>
                </a:ext>
              </a:extLst>
            </p:cNvPr>
            <p:cNvCxnSpPr>
              <a:cxnSpLocks/>
              <a:stCxn id="39" idx="1"/>
            </p:cNvCxnSpPr>
            <p:nvPr/>
          </p:nvCxnSpPr>
          <p:spPr>
            <a:xfrm flipH="1">
              <a:off x="8308500" y="1869156"/>
              <a:ext cx="1989039" cy="9022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46F994F5-07AD-3EC4-DEA3-DFD5E5BBAB9E}"/>
                </a:ext>
              </a:extLst>
            </p:cNvPr>
            <p:cNvSpPr txBox="1"/>
            <p:nvPr/>
          </p:nvSpPr>
          <p:spPr>
            <a:xfrm>
              <a:off x="10297539" y="1715267"/>
              <a:ext cx="1119885" cy="307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工业相机</a:t>
              </a:r>
              <a:endParaRPr lang="en-US" altLang="zh-CN" sz="14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D32FDFF6-1E39-8D9B-F22E-DE725C9B68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6122" y="1672618"/>
              <a:ext cx="1634186" cy="8489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C94E0466-4CBA-ACAF-F4B3-396FD9D9C5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77834" y="3109622"/>
              <a:ext cx="884443" cy="7025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02F4D72B-6E65-BAB6-CBBF-4F33F77B81FA}"/>
                </a:ext>
              </a:extLst>
            </p:cNvPr>
            <p:cNvSpPr txBox="1"/>
            <p:nvPr/>
          </p:nvSpPr>
          <p:spPr>
            <a:xfrm>
              <a:off x="10297539" y="3674446"/>
              <a:ext cx="1128912" cy="5232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NG</a:t>
              </a:r>
              <a:r>
                <a:rPr lang="zh-CN" altLang="en-US" sz="14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剔除装置</a:t>
              </a:r>
              <a:endParaRPr lang="en-US" altLang="zh-CN" sz="14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FE2A62E3-BF73-50B3-C89A-4712EE306DF0}"/>
                </a:ext>
              </a:extLst>
            </p:cNvPr>
            <p:cNvCxnSpPr>
              <a:cxnSpLocks/>
              <a:stCxn id="52" idx="1"/>
            </p:cNvCxnSpPr>
            <p:nvPr/>
          </p:nvCxnSpPr>
          <p:spPr>
            <a:xfrm flipH="1" flipV="1">
              <a:off x="7516626" y="3186495"/>
              <a:ext cx="2780913" cy="74956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C0FBF05C-B336-8165-8A32-FB4F61A51BCB}"/>
              </a:ext>
            </a:extLst>
          </p:cNvPr>
          <p:cNvGrpSpPr/>
          <p:nvPr/>
        </p:nvGrpSpPr>
        <p:grpSpPr>
          <a:xfrm>
            <a:off x="100971" y="984722"/>
            <a:ext cx="3546594" cy="3151459"/>
            <a:chOff x="296507" y="913123"/>
            <a:chExt cx="3546594" cy="3151459"/>
          </a:xfrm>
        </p:grpSpPr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DB4309CA-67CF-DCB6-30A1-D781894D1C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22342"/>
            <a:stretch/>
          </p:blipFill>
          <p:spPr>
            <a:xfrm>
              <a:off x="503647" y="913123"/>
              <a:ext cx="3339454" cy="3151459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190F288-C694-DEFC-923B-0E57613C3A6C}"/>
                </a:ext>
              </a:extLst>
            </p:cNvPr>
            <p:cNvSpPr txBox="1"/>
            <p:nvPr/>
          </p:nvSpPr>
          <p:spPr>
            <a:xfrm>
              <a:off x="323694" y="1106499"/>
              <a:ext cx="1119885" cy="307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不同样本</a:t>
              </a:r>
              <a:endParaRPr lang="en-US" altLang="zh-CN" sz="14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DB2B3667-E322-9F70-D4B4-19E011BC0090}"/>
                </a:ext>
              </a:extLst>
            </p:cNvPr>
            <p:cNvSpPr txBox="1"/>
            <p:nvPr/>
          </p:nvSpPr>
          <p:spPr>
            <a:xfrm>
              <a:off x="303918" y="2551404"/>
              <a:ext cx="1119885" cy="307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左侧整线</a:t>
              </a:r>
              <a:endParaRPr lang="en-US" altLang="zh-CN" sz="14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466806C7-0BB7-3F9E-32C9-EAEF5D0C679B}"/>
                </a:ext>
              </a:extLst>
            </p:cNvPr>
            <p:cNvSpPr txBox="1"/>
            <p:nvPr/>
          </p:nvSpPr>
          <p:spPr>
            <a:xfrm>
              <a:off x="296507" y="3258936"/>
              <a:ext cx="1119885" cy="307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右侧整线</a:t>
              </a:r>
              <a:endParaRPr lang="en-US" altLang="zh-CN" sz="14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16C1A1BB-6588-CDED-43A1-7393BE162A08}"/>
                </a:ext>
              </a:extLst>
            </p:cNvPr>
            <p:cNvCxnSpPr>
              <a:cxnSpLocks/>
              <a:stCxn id="57" idx="2"/>
            </p:cNvCxnSpPr>
            <p:nvPr/>
          </p:nvCxnSpPr>
          <p:spPr>
            <a:xfrm>
              <a:off x="883637" y="1414276"/>
              <a:ext cx="405844" cy="44757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276593CF-AF12-1D90-7C16-117BF2FBA52C}"/>
                </a:ext>
              </a:extLst>
            </p:cNvPr>
            <p:cNvCxnSpPr>
              <a:cxnSpLocks/>
              <a:stCxn id="58" idx="3"/>
            </p:cNvCxnSpPr>
            <p:nvPr/>
          </p:nvCxnSpPr>
          <p:spPr>
            <a:xfrm flipV="1">
              <a:off x="1423803" y="1645095"/>
              <a:ext cx="1484355" cy="106019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3BDA0715-32C7-ED59-ED97-841122836F85}"/>
                </a:ext>
              </a:extLst>
            </p:cNvPr>
            <p:cNvCxnSpPr>
              <a:cxnSpLocks/>
              <a:endCxn id="59" idx="3"/>
            </p:cNvCxnSpPr>
            <p:nvPr/>
          </p:nvCxnSpPr>
          <p:spPr>
            <a:xfrm flipH="1">
              <a:off x="1416392" y="3117224"/>
              <a:ext cx="1491766" cy="29560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DC14AAD1-E0BE-F88A-9C40-7D7D0DA15A6E}"/>
              </a:ext>
            </a:extLst>
          </p:cNvPr>
          <p:cNvGrpSpPr/>
          <p:nvPr/>
        </p:nvGrpSpPr>
        <p:grpSpPr>
          <a:xfrm>
            <a:off x="8473896" y="903378"/>
            <a:ext cx="3394068" cy="3436332"/>
            <a:chOff x="8319800" y="880819"/>
            <a:chExt cx="3394068" cy="3436332"/>
          </a:xfrm>
        </p:grpSpPr>
        <p:pic>
          <p:nvPicPr>
            <p:cNvPr id="96" name="图片 95">
              <a:extLst>
                <a:ext uri="{FF2B5EF4-FFF2-40B4-BE49-F238E27FC236}">
                  <a16:creationId xmlns:a16="http://schemas.microsoft.com/office/drawing/2014/main" id="{B4757F12-AC14-8B3C-53FB-8446F150E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19800" y="1452483"/>
              <a:ext cx="3104840" cy="2117175"/>
            </a:xfrm>
            <a:prstGeom prst="rect">
              <a:avLst/>
            </a:prstGeom>
          </p:spPr>
        </p:pic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44066F7E-9D44-0E72-A794-DAA4756E82B4}"/>
                </a:ext>
              </a:extLst>
            </p:cNvPr>
            <p:cNvSpPr txBox="1"/>
            <p:nvPr/>
          </p:nvSpPr>
          <p:spPr>
            <a:xfrm>
              <a:off x="10593983" y="880819"/>
              <a:ext cx="1119885" cy="307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直线模组</a:t>
              </a:r>
              <a:endParaRPr lang="en-US" altLang="zh-CN" sz="14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F7BAA737-BCEC-54A2-363C-736D1B134E2A}"/>
                </a:ext>
              </a:extLst>
            </p:cNvPr>
            <p:cNvSpPr txBox="1"/>
            <p:nvPr/>
          </p:nvSpPr>
          <p:spPr>
            <a:xfrm>
              <a:off x="10593983" y="3793931"/>
              <a:ext cx="1119885" cy="5232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NG</a:t>
              </a:r>
              <a:r>
                <a:rPr lang="zh-CN" altLang="en-US" sz="14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剔除执行端</a:t>
              </a:r>
              <a:endParaRPr lang="en-US" altLang="zh-CN" sz="1400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AB651BE2-0700-5A38-8AB5-1D4A21619273}"/>
                </a:ext>
              </a:extLst>
            </p:cNvPr>
            <p:cNvCxnSpPr>
              <a:cxnSpLocks/>
              <a:stCxn id="98" idx="1"/>
            </p:cNvCxnSpPr>
            <p:nvPr/>
          </p:nvCxnSpPr>
          <p:spPr>
            <a:xfrm flipH="1">
              <a:off x="9629775" y="1034708"/>
              <a:ext cx="964208" cy="115929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C9881704-B9ED-55B4-C727-6DAE03CB2965}"/>
                </a:ext>
              </a:extLst>
            </p:cNvPr>
            <p:cNvCxnSpPr>
              <a:cxnSpLocks/>
              <a:stCxn id="99" idx="1"/>
            </p:cNvCxnSpPr>
            <p:nvPr/>
          </p:nvCxnSpPr>
          <p:spPr>
            <a:xfrm flipH="1" flipV="1">
              <a:off x="9431885" y="2827227"/>
              <a:ext cx="1162098" cy="1228314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246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ACB2871-0480-A0C8-66DC-71559BC81E98}"/>
              </a:ext>
            </a:extLst>
          </p:cNvPr>
          <p:cNvGrpSpPr/>
          <p:nvPr/>
        </p:nvGrpSpPr>
        <p:grpSpPr>
          <a:xfrm>
            <a:off x="2382839" y="181138"/>
            <a:ext cx="7426321" cy="705545"/>
            <a:chOff x="3869494" y="45817"/>
            <a:chExt cx="4901584" cy="73517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AABD3F5-D469-501B-E18D-C75D877853E7}"/>
                </a:ext>
              </a:extLst>
            </p:cNvPr>
            <p:cNvSpPr/>
            <p:nvPr/>
          </p:nvSpPr>
          <p:spPr>
            <a:xfrm>
              <a:off x="3869494" y="165523"/>
              <a:ext cx="4901584" cy="61547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24FDE75-2FC1-63DB-7C31-DA371E1A5FD2}"/>
                </a:ext>
              </a:extLst>
            </p:cNvPr>
            <p:cNvSpPr txBox="1"/>
            <p:nvPr/>
          </p:nvSpPr>
          <p:spPr>
            <a:xfrm>
              <a:off x="3869494" y="45817"/>
              <a:ext cx="4901584" cy="690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5-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设备规格与主要结构参数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588AE01-4F20-9F98-F84D-2019DB8E9AB4}"/>
              </a:ext>
            </a:extLst>
          </p:cNvPr>
          <p:cNvGrpSpPr/>
          <p:nvPr/>
        </p:nvGrpSpPr>
        <p:grpSpPr>
          <a:xfrm>
            <a:off x="0" y="0"/>
            <a:ext cx="541879" cy="533912"/>
            <a:chOff x="0" y="0"/>
            <a:chExt cx="1036639" cy="1676401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7BC74F4-0816-DE05-0691-799CDC38C096}"/>
                </a:ext>
              </a:extLst>
            </p:cNvPr>
            <p:cNvSpPr/>
            <p:nvPr/>
          </p:nvSpPr>
          <p:spPr>
            <a:xfrm flipH="1" flipV="1">
              <a:off x="626735" y="1"/>
              <a:ext cx="409904" cy="1676400"/>
            </a:xfrm>
            <a:prstGeom prst="rect">
              <a:avLst/>
            </a:prstGeom>
            <a:solidFill>
              <a:srgbClr val="2D84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4AB9E4F-8EA5-AB5E-4AE6-27AB3D9AEF1F}"/>
                </a:ext>
              </a:extLst>
            </p:cNvPr>
            <p:cNvSpPr/>
            <p:nvPr/>
          </p:nvSpPr>
          <p:spPr>
            <a:xfrm flipH="1" flipV="1">
              <a:off x="0" y="0"/>
              <a:ext cx="409905" cy="16763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aphicFrame>
        <p:nvGraphicFramePr>
          <p:cNvPr id="2" name="表格 8">
            <a:extLst>
              <a:ext uri="{FF2B5EF4-FFF2-40B4-BE49-F238E27FC236}">
                <a16:creationId xmlns:a16="http://schemas.microsoft.com/office/drawing/2014/main" id="{76529716-264E-93C9-B6BA-3ED7087FC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265833"/>
              </p:ext>
            </p:extLst>
          </p:nvPr>
        </p:nvGraphicFramePr>
        <p:xfrm>
          <a:off x="107134" y="1001564"/>
          <a:ext cx="5062407" cy="52222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49797">
                  <a:extLst>
                    <a:ext uri="{9D8B030D-6E8A-4147-A177-3AD203B41FA5}">
                      <a16:colId xmlns:a16="http://schemas.microsoft.com/office/drawing/2014/main" val="3551394603"/>
                    </a:ext>
                  </a:extLst>
                </a:gridCol>
                <a:gridCol w="1687087">
                  <a:extLst>
                    <a:ext uri="{9D8B030D-6E8A-4147-A177-3AD203B41FA5}">
                      <a16:colId xmlns:a16="http://schemas.microsoft.com/office/drawing/2014/main" val="4177955940"/>
                    </a:ext>
                  </a:extLst>
                </a:gridCol>
                <a:gridCol w="2725523">
                  <a:extLst>
                    <a:ext uri="{9D8B030D-6E8A-4147-A177-3AD203B41FA5}">
                      <a16:colId xmlns:a16="http://schemas.microsoft.com/office/drawing/2014/main" val="1777894763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 备 规 格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64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项目名称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参数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421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1</a:t>
                      </a:r>
                      <a:endParaRPr lang="zh-CN" alt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设备尺寸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1200x360x1200</a:t>
                      </a:r>
                      <a:r>
                        <a:rPr lang="zh-CN" altLang="en-US" sz="1400" b="0" dirty="0"/>
                        <a:t>（长</a:t>
                      </a:r>
                      <a:r>
                        <a:rPr lang="en-US" altLang="zh-CN" sz="1400" b="0" dirty="0"/>
                        <a:t>x</a:t>
                      </a:r>
                      <a:r>
                        <a:rPr lang="zh-CN" altLang="en-US" sz="1400" b="0" dirty="0"/>
                        <a:t>宽</a:t>
                      </a:r>
                      <a:r>
                        <a:rPr lang="en-US" altLang="zh-CN" sz="1400" b="0" dirty="0"/>
                        <a:t>x</a:t>
                      </a:r>
                      <a:r>
                        <a:rPr lang="zh-CN" altLang="en-US" sz="1400" b="0" dirty="0"/>
                        <a:t>高）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0685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2</a:t>
                      </a:r>
                      <a:endParaRPr lang="zh-CN" alt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工作电压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220v</a:t>
                      </a:r>
                      <a:r>
                        <a:rPr lang="zh-CN" altLang="en-US" sz="1400" b="0" dirty="0"/>
                        <a:t>（</a:t>
                      </a:r>
                      <a:r>
                        <a:rPr lang="en-US" altLang="zh-CN" sz="1400" b="0" dirty="0"/>
                        <a:t>AC</a:t>
                      </a:r>
                      <a:r>
                        <a:rPr lang="zh-CN" altLang="en-US" sz="1400" b="0" dirty="0"/>
                        <a:t>），</a:t>
                      </a:r>
                      <a:r>
                        <a:rPr lang="en-US" altLang="zh-CN" sz="1400" b="0" dirty="0"/>
                        <a:t>50Hz</a:t>
                      </a:r>
                      <a:endParaRPr lang="zh-CN" altLang="en-US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854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2</a:t>
                      </a:r>
                      <a:endParaRPr lang="zh-CN" alt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占地面积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0.288m</a:t>
                      </a:r>
                      <a:r>
                        <a:rPr lang="en-US" altLang="zh-CN" sz="1400" b="0" baseline="30000" dirty="0"/>
                        <a:t>2</a:t>
                      </a:r>
                      <a:endParaRPr lang="zh-CN" altLang="en-US" sz="1400" b="0" baseline="30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894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4</a:t>
                      </a:r>
                      <a:endParaRPr lang="zh-CN" alt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设备重量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≤</a:t>
                      </a:r>
                      <a:r>
                        <a:rPr lang="en-US" altLang="zh-CN" sz="1400" b="0" dirty="0"/>
                        <a:t>50kg</a:t>
                      </a:r>
                      <a:endParaRPr lang="zh-CN" altLang="en-US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787144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5</a:t>
                      </a:r>
                      <a:endParaRPr lang="zh-CN" alt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兼容样本范围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200x100x50</a:t>
                      </a:r>
                      <a:r>
                        <a:rPr lang="zh-CN" altLang="en-US" sz="1400" b="0" dirty="0"/>
                        <a:t>（长</a:t>
                      </a:r>
                      <a:r>
                        <a:rPr lang="en-US" altLang="zh-CN" sz="1400" b="0" dirty="0"/>
                        <a:t>x</a:t>
                      </a:r>
                      <a:r>
                        <a:rPr lang="zh-CN" altLang="en-US" sz="1400" b="0" dirty="0"/>
                        <a:t>宽</a:t>
                      </a:r>
                      <a:r>
                        <a:rPr lang="en-US" altLang="zh-CN" sz="1400" b="0" dirty="0"/>
                        <a:t>x</a:t>
                      </a:r>
                      <a:r>
                        <a:rPr lang="zh-CN" altLang="en-US" sz="1400" b="0" dirty="0"/>
                        <a:t>高）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4590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6</a:t>
                      </a:r>
                      <a:endParaRPr lang="zh-CN" alt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视觉高度可调范围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220~280mm</a:t>
                      </a:r>
                      <a:endParaRPr lang="zh-CN" altLang="en-US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104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视觉宽度可调范围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±100mm</a:t>
                      </a:r>
                      <a:endParaRPr lang="zh-CN" altLang="en-US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25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7</a:t>
                      </a:r>
                      <a:endParaRPr lang="zh-CN" alt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视场范围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200x200mm</a:t>
                      </a:r>
                      <a:r>
                        <a:rPr lang="zh-CN" altLang="en-US" sz="1400" b="0" dirty="0"/>
                        <a:t>（长</a:t>
                      </a:r>
                      <a:r>
                        <a:rPr lang="en-US" altLang="zh-CN" sz="1400" b="0" dirty="0"/>
                        <a:t>x</a:t>
                      </a:r>
                      <a:r>
                        <a:rPr lang="zh-CN" altLang="en-US" sz="1400" b="0" dirty="0"/>
                        <a:t>宽）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110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8</a:t>
                      </a:r>
                      <a:endParaRPr lang="zh-CN" alt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光源类型与尺寸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平面光</a:t>
                      </a:r>
                      <a:r>
                        <a:rPr lang="en-US" altLang="zh-CN" sz="1400" b="0" dirty="0"/>
                        <a:t>200x300mm</a:t>
                      </a:r>
                      <a:r>
                        <a:rPr lang="zh-CN" altLang="en-US" sz="1400" b="0" dirty="0"/>
                        <a:t>（长</a:t>
                      </a:r>
                      <a:r>
                        <a:rPr lang="en-US" altLang="zh-CN" sz="1400" b="0" dirty="0"/>
                        <a:t>x</a:t>
                      </a:r>
                      <a:r>
                        <a:rPr lang="zh-CN" altLang="en-US" sz="1400" b="0" dirty="0"/>
                        <a:t>宽）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0348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传送带速度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/>
                        <a:t>0.03~0.27m/s</a:t>
                      </a:r>
                      <a:endParaRPr lang="zh-CN" altLang="en-US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018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样本检测区域面积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/>
                        <a:t>1200mmx250mm=0.3m</a:t>
                      </a:r>
                      <a:r>
                        <a:rPr lang="en-US" altLang="zh-CN" sz="1400" b="0" baseline="30000" dirty="0"/>
                        <a:t>2</a:t>
                      </a:r>
                      <a:endParaRPr lang="zh-CN" altLang="en-US" sz="1400" b="0" baseline="30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4065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工作台面高度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≥</a:t>
                      </a: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700mm</a:t>
                      </a:r>
                      <a:r>
                        <a:rPr kumimoji="0" lang="zh-CN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（可调）</a:t>
                      </a:r>
                      <a:endParaRPr lang="zh-CN" altLang="en-US" sz="1400" b="0" baseline="30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098077"/>
                  </a:ext>
                </a:extLst>
              </a:tr>
            </a:tbl>
          </a:graphicData>
        </a:graphic>
      </p:graphicFrame>
      <p:graphicFrame>
        <p:nvGraphicFramePr>
          <p:cNvPr id="9" name="表格 2">
            <a:extLst>
              <a:ext uri="{FF2B5EF4-FFF2-40B4-BE49-F238E27FC236}">
                <a16:creationId xmlns:a16="http://schemas.microsoft.com/office/drawing/2014/main" id="{720AB4B2-A12C-44A8-5AC7-2CD3E56DC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17263"/>
              </p:ext>
            </p:extLst>
          </p:nvPr>
        </p:nvGraphicFramePr>
        <p:xfrm>
          <a:off x="5251509" y="986757"/>
          <a:ext cx="6744748" cy="542523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208014">
                  <a:extLst>
                    <a:ext uri="{9D8B030D-6E8A-4147-A177-3AD203B41FA5}">
                      <a16:colId xmlns:a16="http://schemas.microsoft.com/office/drawing/2014/main" val="973266359"/>
                    </a:ext>
                  </a:extLst>
                </a:gridCol>
                <a:gridCol w="2768367">
                  <a:extLst>
                    <a:ext uri="{9D8B030D-6E8A-4147-A177-3AD203B41FA5}">
                      <a16:colId xmlns:a16="http://schemas.microsoft.com/office/drawing/2014/main" val="3915715054"/>
                    </a:ext>
                  </a:extLst>
                </a:gridCol>
                <a:gridCol w="2130804">
                  <a:extLst>
                    <a:ext uri="{9D8B030D-6E8A-4147-A177-3AD203B41FA5}">
                      <a16:colId xmlns:a16="http://schemas.microsoft.com/office/drawing/2014/main" val="1483013849"/>
                    </a:ext>
                  </a:extLst>
                </a:gridCol>
                <a:gridCol w="637563">
                  <a:extLst>
                    <a:ext uri="{9D8B030D-6E8A-4147-A177-3AD203B41FA5}">
                      <a16:colId xmlns:a16="http://schemas.microsoft.com/office/drawing/2014/main" val="3088992833"/>
                    </a:ext>
                  </a:extLst>
                </a:gridCol>
              </a:tblGrid>
              <a:tr h="269188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主要结构选型与精度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57878"/>
                  </a:ext>
                </a:extLst>
              </a:tr>
              <a:tr h="2691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品名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规格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型号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数量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4015887"/>
                  </a:ext>
                </a:extLst>
              </a:tr>
              <a:tr h="2691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工控机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触沃</a:t>
                      </a:r>
                      <a:r>
                        <a:rPr lang="en-US" altLang="zh-CN" sz="1400" dirty="0"/>
                        <a:t>8</a:t>
                      </a:r>
                      <a:r>
                        <a:rPr lang="zh-CN" altLang="en-US" sz="1400" dirty="0"/>
                        <a:t>寸一体机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TD080W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637276"/>
                  </a:ext>
                </a:extLst>
              </a:tr>
              <a:tr h="45761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相机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5120*5120/</a:t>
                      </a:r>
                      <a:r>
                        <a:rPr lang="zh-CN" altLang="en-US" sz="1400" dirty="0"/>
                        <a:t>帧爆光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ME2P-2621-15U3M/C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5218804"/>
                  </a:ext>
                </a:extLst>
              </a:tr>
              <a:tr h="102291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镜头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定焦</a:t>
                      </a:r>
                      <a:r>
                        <a:rPr lang="en-US" altLang="zh-CN" sz="1400" dirty="0"/>
                        <a:t>/</a:t>
                      </a:r>
                      <a:r>
                        <a:rPr lang="zh-CN" altLang="en-US" sz="1400" dirty="0"/>
                        <a:t>焦距暂定</a:t>
                      </a:r>
                      <a:r>
                        <a:rPr lang="en-US" altLang="zh-CN" sz="1400" dirty="0"/>
                        <a:t>12mm</a:t>
                      </a:r>
                    </a:p>
                    <a:p>
                      <a:pPr algn="ctr"/>
                      <a:r>
                        <a:rPr lang="zh-CN" altLang="en-US" sz="1400" dirty="0"/>
                        <a:t>物距</a:t>
                      </a:r>
                      <a:r>
                        <a:rPr lang="en-US" altLang="zh-CN" sz="1400" dirty="0"/>
                        <a:t>100mm-∞</a:t>
                      </a:r>
                    </a:p>
                    <a:p>
                      <a:pPr algn="ctr"/>
                      <a:r>
                        <a:rPr lang="en-US" altLang="zh-CN" sz="1400" dirty="0"/>
                        <a:t>F2.0-F16</a:t>
                      </a:r>
                    </a:p>
                    <a:p>
                      <a:pPr algn="ctr"/>
                      <a:r>
                        <a:rPr lang="zh-CN" altLang="en-US" sz="1400" dirty="0"/>
                        <a:t>畸变</a:t>
                      </a:r>
                      <a:r>
                        <a:rPr lang="en-US" altLang="zh-CN" sz="1400" dirty="0"/>
                        <a:t>&lt;0.77%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  <a:p>
                      <a:pPr algn="ctr"/>
                      <a:r>
                        <a:rPr lang="en-US" altLang="zh-CN" sz="1400" dirty="0"/>
                        <a:t>OPT-C1220-10M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910049"/>
                  </a:ext>
                </a:extLst>
              </a:tr>
              <a:tr h="457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光源</a:t>
                      </a:r>
                      <a:r>
                        <a:rPr lang="en-US" altLang="zh-CN" sz="1400" dirty="0"/>
                        <a:t>/</a:t>
                      </a:r>
                      <a:r>
                        <a:rPr lang="zh-CN" altLang="en-US" sz="1400" dirty="0"/>
                        <a:t>控制器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自研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</a:t>
                      </a:r>
                      <a:r>
                        <a:rPr lang="zh-CN" altLang="en-US" sz="1400" dirty="0"/>
                        <a:t>套</a:t>
                      </a:r>
                    </a:p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757793"/>
                  </a:ext>
                </a:extLst>
              </a:tr>
              <a:tr h="45761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微调平台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X/z</a:t>
                      </a:r>
                      <a:r>
                        <a:rPr lang="zh-CN" altLang="en-US" sz="1400" dirty="0"/>
                        <a:t>轴位移微调平台精度</a:t>
                      </a:r>
                      <a:r>
                        <a:rPr lang="en-US" altLang="zh-CN" sz="1400" dirty="0"/>
                        <a:t>0.01mm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LW60-60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r>
                        <a:rPr lang="zh-CN" altLang="en-US" sz="1400" dirty="0"/>
                        <a:t>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8979109"/>
                  </a:ext>
                </a:extLst>
              </a:tr>
              <a:tr h="2691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控制附件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5126302"/>
                  </a:ext>
                </a:extLst>
              </a:tr>
              <a:tr h="45761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光学平台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平面度控制</a:t>
                      </a:r>
                      <a:r>
                        <a:rPr lang="en-US" altLang="zh-CN" sz="1400" dirty="0"/>
                        <a:t>0.05mm</a:t>
                      </a:r>
                      <a:r>
                        <a:rPr lang="zh-CN" altLang="en-US" sz="1400" dirty="0"/>
                        <a:t>以下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300x300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7529394"/>
                  </a:ext>
                </a:extLst>
              </a:tr>
              <a:tr h="6460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直线模组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行程</a:t>
                      </a:r>
                      <a:r>
                        <a:rPr lang="en-US" altLang="zh-CN" sz="1400" dirty="0"/>
                        <a:t>200mm</a:t>
                      </a:r>
                      <a:r>
                        <a:rPr lang="zh-CN" altLang="en-US" sz="1400" dirty="0"/>
                        <a:t>，搭配伺服电机，精度征服</a:t>
                      </a:r>
                      <a:r>
                        <a:rPr lang="en-US" altLang="zh-CN" sz="1400" dirty="0"/>
                        <a:t>0.05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effectLst/>
                        </a:rPr>
                        <a:t>Tr8*2 *4*12 200mm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</a:t>
                      </a:r>
                      <a:r>
                        <a:rPr lang="zh-CN" altLang="en-US" sz="1400" dirty="0"/>
                        <a:t>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767955"/>
                  </a:ext>
                </a:extLst>
              </a:tr>
              <a:tr h="6460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一体传送带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2040-</a:t>
                      </a:r>
                      <a:r>
                        <a:rPr lang="zh-CN" altLang="en-US" sz="1400" dirty="0"/>
                        <a:t>长</a:t>
                      </a:r>
                      <a:r>
                        <a:rPr lang="en-US" altLang="zh-CN" sz="1400" dirty="0"/>
                        <a:t>1200mm</a:t>
                      </a:r>
                      <a:r>
                        <a:rPr lang="zh-CN" altLang="en-US" sz="1400" dirty="0"/>
                        <a:t>（</a:t>
                      </a:r>
                      <a:r>
                        <a:rPr lang="en-US" altLang="zh-CN" sz="1400" dirty="0"/>
                        <a:t>2~16m/min) 24</a:t>
                      </a:r>
                      <a:r>
                        <a:rPr lang="zh-CN" altLang="en-US" sz="1400" dirty="0"/>
                        <a:t>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</a:t>
                      </a:r>
                      <a:r>
                        <a:rPr lang="zh-CN" altLang="en-US" sz="1400" dirty="0"/>
                        <a:t>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244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95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56FE64C-9CDF-566B-ED5A-C53A6A861FAF}"/>
              </a:ext>
            </a:extLst>
          </p:cNvPr>
          <p:cNvGrpSpPr/>
          <p:nvPr/>
        </p:nvGrpSpPr>
        <p:grpSpPr>
          <a:xfrm>
            <a:off x="4201319" y="36283"/>
            <a:ext cx="3789361" cy="705545"/>
            <a:chOff x="3869494" y="45817"/>
            <a:chExt cx="4901584" cy="73517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FCBD32C-3505-8350-D748-E1BCB64BDFB9}"/>
                </a:ext>
              </a:extLst>
            </p:cNvPr>
            <p:cNvSpPr/>
            <p:nvPr/>
          </p:nvSpPr>
          <p:spPr>
            <a:xfrm>
              <a:off x="3869494" y="165523"/>
              <a:ext cx="4901584" cy="61547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8C8BDF4-A65A-85C1-C638-6B1B10BE8D1C}"/>
                </a:ext>
              </a:extLst>
            </p:cNvPr>
            <p:cNvSpPr txBox="1"/>
            <p:nvPr/>
          </p:nvSpPr>
          <p:spPr>
            <a:xfrm>
              <a:off x="3869494" y="45817"/>
              <a:ext cx="4901584" cy="690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6-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设备工作流程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875D60B-D425-C67D-E535-35F44F8AB7B4}"/>
              </a:ext>
            </a:extLst>
          </p:cNvPr>
          <p:cNvGrpSpPr/>
          <p:nvPr/>
        </p:nvGrpSpPr>
        <p:grpSpPr>
          <a:xfrm>
            <a:off x="0" y="0"/>
            <a:ext cx="541879" cy="533912"/>
            <a:chOff x="0" y="0"/>
            <a:chExt cx="1036639" cy="1676401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1BFA89D-F8B5-2B2E-82C7-F90A6F867E74}"/>
                </a:ext>
              </a:extLst>
            </p:cNvPr>
            <p:cNvSpPr/>
            <p:nvPr/>
          </p:nvSpPr>
          <p:spPr>
            <a:xfrm flipH="1" flipV="1">
              <a:off x="626735" y="1"/>
              <a:ext cx="409904" cy="1676400"/>
            </a:xfrm>
            <a:prstGeom prst="rect">
              <a:avLst/>
            </a:prstGeom>
            <a:solidFill>
              <a:srgbClr val="2D84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9C1F61F-C64A-55EB-DF56-8CD6F247112D}"/>
                </a:ext>
              </a:extLst>
            </p:cNvPr>
            <p:cNvSpPr/>
            <p:nvPr/>
          </p:nvSpPr>
          <p:spPr>
            <a:xfrm flipH="1" flipV="1">
              <a:off x="0" y="0"/>
              <a:ext cx="409905" cy="16763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C7468D3A-BFEB-D0F2-AF31-2881C61146C2}"/>
              </a:ext>
            </a:extLst>
          </p:cNvPr>
          <p:cNvGrpSpPr/>
          <p:nvPr/>
        </p:nvGrpSpPr>
        <p:grpSpPr>
          <a:xfrm>
            <a:off x="214268" y="1150096"/>
            <a:ext cx="6519907" cy="4741796"/>
            <a:chOff x="109843" y="859449"/>
            <a:chExt cx="8830482" cy="5568272"/>
          </a:xfrm>
        </p:grpSpPr>
        <p:sp>
          <p:nvSpPr>
            <p:cNvPr id="17" name="矩形标注 83">
              <a:extLst>
                <a:ext uri="{FF2B5EF4-FFF2-40B4-BE49-F238E27FC236}">
                  <a16:creationId xmlns:a16="http://schemas.microsoft.com/office/drawing/2014/main" id="{484CAB00-393F-3E46-7AFD-38011DB3D9B0}"/>
                </a:ext>
              </a:extLst>
            </p:cNvPr>
            <p:cNvSpPr/>
            <p:nvPr/>
          </p:nvSpPr>
          <p:spPr>
            <a:xfrm>
              <a:off x="1658610" y="4638503"/>
              <a:ext cx="7281715" cy="1789218"/>
            </a:xfrm>
            <a:prstGeom prst="wedgeRectCallout">
              <a:avLst>
                <a:gd name="adj1" fmla="val -57936"/>
                <a:gd name="adj2" fmla="val -9051"/>
              </a:avLst>
            </a:prstGeom>
            <a:solidFill>
              <a:schemeClr val="bg1"/>
            </a:solidFill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流程图: 过程 17">
              <a:extLst>
                <a:ext uri="{FF2B5EF4-FFF2-40B4-BE49-F238E27FC236}">
                  <a16:creationId xmlns:a16="http://schemas.microsoft.com/office/drawing/2014/main" id="{7A8247CE-D4F6-9FA3-D7A1-536B9A805E5F}"/>
                </a:ext>
              </a:extLst>
            </p:cNvPr>
            <p:cNvSpPr/>
            <p:nvPr/>
          </p:nvSpPr>
          <p:spPr>
            <a:xfrm>
              <a:off x="1689134" y="859449"/>
              <a:ext cx="7240637" cy="2981157"/>
            </a:xfrm>
            <a:prstGeom prst="flowChartProcess">
              <a:avLst/>
            </a:prstGeom>
            <a:solidFill>
              <a:schemeClr val="lt1">
                <a:alpha val="70000"/>
              </a:schemeClr>
            </a:solidFill>
            <a:ln w="38100">
              <a:solidFill>
                <a:schemeClr val="accent3">
                  <a:alpha val="3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 dirty="0"/>
            </a:p>
          </p:txBody>
        </p:sp>
        <p:sp>
          <p:nvSpPr>
            <p:cNvPr id="19" name="流程图: 过程 18">
              <a:extLst>
                <a:ext uri="{FF2B5EF4-FFF2-40B4-BE49-F238E27FC236}">
                  <a16:creationId xmlns:a16="http://schemas.microsoft.com/office/drawing/2014/main" id="{37D46CC5-E9AC-A6BF-6D96-1696A11CB329}"/>
                </a:ext>
              </a:extLst>
            </p:cNvPr>
            <p:cNvSpPr/>
            <p:nvPr/>
          </p:nvSpPr>
          <p:spPr>
            <a:xfrm>
              <a:off x="1880907" y="1440291"/>
              <a:ext cx="1096720" cy="1185721"/>
            </a:xfrm>
            <a:prstGeom prst="flowChartProcess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0" name="流程图: 过程 19">
              <a:extLst>
                <a:ext uri="{FF2B5EF4-FFF2-40B4-BE49-F238E27FC236}">
                  <a16:creationId xmlns:a16="http://schemas.microsoft.com/office/drawing/2014/main" id="{78040FDE-C554-D2B9-18C2-6AF1AB8E94DD}"/>
                </a:ext>
              </a:extLst>
            </p:cNvPr>
            <p:cNvSpPr/>
            <p:nvPr/>
          </p:nvSpPr>
          <p:spPr>
            <a:xfrm>
              <a:off x="2030113" y="1349568"/>
              <a:ext cx="783115" cy="629277"/>
            </a:xfrm>
            <a:prstGeom prst="flowChartProcess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光 源</a:t>
              </a:r>
            </a:p>
          </p:txBody>
        </p:sp>
        <p:sp>
          <p:nvSpPr>
            <p:cNvPr id="21" name="流程图: 过程 20">
              <a:extLst>
                <a:ext uri="{FF2B5EF4-FFF2-40B4-BE49-F238E27FC236}">
                  <a16:creationId xmlns:a16="http://schemas.microsoft.com/office/drawing/2014/main" id="{23DAA8E6-02C3-9409-6305-7D34FCA83E06}"/>
                </a:ext>
              </a:extLst>
            </p:cNvPr>
            <p:cNvSpPr/>
            <p:nvPr/>
          </p:nvSpPr>
          <p:spPr>
            <a:xfrm>
              <a:off x="2015089" y="2150762"/>
              <a:ext cx="783115" cy="661179"/>
            </a:xfrm>
            <a:prstGeom prst="flowChartProcess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相 机</a:t>
              </a:r>
            </a:p>
          </p:txBody>
        </p:sp>
        <p:sp>
          <p:nvSpPr>
            <p:cNvPr id="22" name="流程图: 过程 21">
              <a:extLst>
                <a:ext uri="{FF2B5EF4-FFF2-40B4-BE49-F238E27FC236}">
                  <a16:creationId xmlns:a16="http://schemas.microsoft.com/office/drawing/2014/main" id="{DEFBF8A3-A709-127C-E7F7-B64338491E7C}"/>
                </a:ext>
              </a:extLst>
            </p:cNvPr>
            <p:cNvSpPr/>
            <p:nvPr/>
          </p:nvSpPr>
          <p:spPr>
            <a:xfrm>
              <a:off x="3342109" y="1734976"/>
              <a:ext cx="1684156" cy="596350"/>
            </a:xfrm>
            <a:prstGeom prst="flowChartProcess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可见光图像</a:t>
              </a:r>
            </a:p>
          </p:txBody>
        </p:sp>
        <p:sp>
          <p:nvSpPr>
            <p:cNvPr id="23" name="流程图: 过程 22">
              <a:extLst>
                <a:ext uri="{FF2B5EF4-FFF2-40B4-BE49-F238E27FC236}">
                  <a16:creationId xmlns:a16="http://schemas.microsoft.com/office/drawing/2014/main" id="{CB78A7E0-5856-1A83-D494-5272FF9A2495}"/>
                </a:ext>
              </a:extLst>
            </p:cNvPr>
            <p:cNvSpPr/>
            <p:nvPr/>
          </p:nvSpPr>
          <p:spPr>
            <a:xfrm>
              <a:off x="7224669" y="1734976"/>
              <a:ext cx="1344612" cy="596350"/>
            </a:xfrm>
            <a:prstGeom prst="flowChartProcess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缺陷检测</a:t>
              </a:r>
              <a:endParaRPr lang="en-US" altLang="zh-CN" sz="1400" dirty="0"/>
            </a:p>
          </p:txBody>
        </p:sp>
        <p:cxnSp>
          <p:nvCxnSpPr>
            <p:cNvPr id="24" name="肘形连接符 105">
              <a:extLst>
                <a:ext uri="{FF2B5EF4-FFF2-40B4-BE49-F238E27FC236}">
                  <a16:creationId xmlns:a16="http://schemas.microsoft.com/office/drawing/2014/main" id="{5F078CD3-D809-C56B-E029-4A5183570453}"/>
                </a:ext>
              </a:extLst>
            </p:cNvPr>
            <p:cNvCxnSpPr>
              <a:stCxn id="19" idx="3"/>
              <a:endCxn id="22" idx="1"/>
            </p:cNvCxnSpPr>
            <p:nvPr/>
          </p:nvCxnSpPr>
          <p:spPr>
            <a:xfrm flipV="1">
              <a:off x="2977627" y="2033151"/>
              <a:ext cx="364482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流程图: 过程 24">
              <a:extLst>
                <a:ext uri="{FF2B5EF4-FFF2-40B4-BE49-F238E27FC236}">
                  <a16:creationId xmlns:a16="http://schemas.microsoft.com/office/drawing/2014/main" id="{5AAF95A5-FEAB-C616-AE2A-902591939B9A}"/>
                </a:ext>
              </a:extLst>
            </p:cNvPr>
            <p:cNvSpPr/>
            <p:nvPr/>
          </p:nvSpPr>
          <p:spPr>
            <a:xfrm>
              <a:off x="3787539" y="2911738"/>
              <a:ext cx="4781742" cy="596350"/>
            </a:xfrm>
            <a:prstGeom prst="flowChartProcess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缺陷分类及定位（前期</a:t>
              </a:r>
              <a:r>
                <a:rPr lang="en-US" altLang="zh-CN" sz="1400" dirty="0"/>
                <a:t>SVM</a:t>
              </a:r>
              <a:r>
                <a:rPr lang="zh-CN" altLang="en-US" sz="1400" dirty="0"/>
                <a:t>，后期</a:t>
              </a:r>
              <a:r>
                <a:rPr lang="en-US" altLang="zh-CN" sz="1400" dirty="0"/>
                <a:t>AI</a:t>
              </a:r>
              <a:r>
                <a:rPr lang="zh-CN" altLang="en-US" sz="1400" dirty="0"/>
                <a:t>）</a:t>
              </a:r>
            </a:p>
          </p:txBody>
        </p:sp>
        <p:cxnSp>
          <p:nvCxnSpPr>
            <p:cNvPr id="26" name="肘形连接符 122">
              <a:extLst>
                <a:ext uri="{FF2B5EF4-FFF2-40B4-BE49-F238E27FC236}">
                  <a16:creationId xmlns:a16="http://schemas.microsoft.com/office/drawing/2014/main" id="{EF601C22-76E1-1F58-031A-74ABD3CAE49D}"/>
                </a:ext>
              </a:extLst>
            </p:cNvPr>
            <p:cNvCxnSpPr>
              <a:stCxn id="23" idx="2"/>
              <a:endCxn id="25" idx="0"/>
            </p:cNvCxnSpPr>
            <p:nvPr/>
          </p:nvCxnSpPr>
          <p:spPr>
            <a:xfrm rot="5400000">
              <a:off x="6747487" y="1762250"/>
              <a:ext cx="580412" cy="171856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流程图: 过程 27">
              <a:extLst>
                <a:ext uri="{FF2B5EF4-FFF2-40B4-BE49-F238E27FC236}">
                  <a16:creationId xmlns:a16="http://schemas.microsoft.com/office/drawing/2014/main" id="{64A1BEAE-5F65-F164-2E35-8A7D25C5FE8A}"/>
                </a:ext>
              </a:extLst>
            </p:cNvPr>
            <p:cNvSpPr/>
            <p:nvPr/>
          </p:nvSpPr>
          <p:spPr>
            <a:xfrm>
              <a:off x="6693788" y="860878"/>
              <a:ext cx="2235983" cy="596350"/>
            </a:xfrm>
            <a:prstGeom prst="flowChartProcess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accent1">
                      <a:lumMod val="75000"/>
                    </a:schemeClr>
                  </a:solidFill>
                </a:rPr>
                <a:t>智能图像处理模块</a:t>
              </a:r>
            </a:p>
          </p:txBody>
        </p: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E0780F66-756D-2D22-5068-1CFA6F475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1620" y="4773735"/>
              <a:ext cx="3506947" cy="1607935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7685691C-2804-CF4A-312B-1E36A10EE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70431" y="4748553"/>
              <a:ext cx="3521133" cy="1633117"/>
            </a:xfrm>
            <a:prstGeom prst="rect">
              <a:avLst/>
            </a:prstGeom>
          </p:spPr>
        </p:pic>
        <p:sp>
          <p:nvSpPr>
            <p:cNvPr id="31" name="流程图: 过程 30">
              <a:extLst>
                <a:ext uri="{FF2B5EF4-FFF2-40B4-BE49-F238E27FC236}">
                  <a16:creationId xmlns:a16="http://schemas.microsoft.com/office/drawing/2014/main" id="{A9F62542-400B-4488-1198-1BE173286BD1}"/>
                </a:ext>
              </a:extLst>
            </p:cNvPr>
            <p:cNvSpPr/>
            <p:nvPr/>
          </p:nvSpPr>
          <p:spPr>
            <a:xfrm>
              <a:off x="5464555" y="1734976"/>
              <a:ext cx="1344612" cy="596350"/>
            </a:xfrm>
            <a:prstGeom prst="flowChartProcess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预处理</a:t>
              </a: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BF284F13-613C-61A2-26B5-3E47C6052273}"/>
                </a:ext>
              </a:extLst>
            </p:cNvPr>
            <p:cNvCxnSpPr>
              <a:stCxn id="22" idx="3"/>
              <a:endCxn id="31" idx="1"/>
            </p:cNvCxnSpPr>
            <p:nvPr/>
          </p:nvCxnSpPr>
          <p:spPr>
            <a:xfrm>
              <a:off x="5026265" y="2033151"/>
              <a:ext cx="43829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E2B72413-6594-2DEE-E019-AE0D5ED5F1AC}"/>
                </a:ext>
              </a:extLst>
            </p:cNvPr>
            <p:cNvCxnSpPr>
              <a:stCxn id="31" idx="3"/>
              <a:endCxn id="23" idx="1"/>
            </p:cNvCxnSpPr>
            <p:nvPr/>
          </p:nvCxnSpPr>
          <p:spPr>
            <a:xfrm>
              <a:off x="6809167" y="2033151"/>
              <a:ext cx="41550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流程图: 过程 38">
              <a:extLst>
                <a:ext uri="{FF2B5EF4-FFF2-40B4-BE49-F238E27FC236}">
                  <a16:creationId xmlns:a16="http://schemas.microsoft.com/office/drawing/2014/main" id="{73033018-839C-44A2-AD40-E0049BBCC4BD}"/>
                </a:ext>
              </a:extLst>
            </p:cNvPr>
            <p:cNvSpPr/>
            <p:nvPr/>
          </p:nvSpPr>
          <p:spPr>
            <a:xfrm>
              <a:off x="109844" y="1846037"/>
              <a:ext cx="1084209" cy="678952"/>
            </a:xfrm>
            <a:prstGeom prst="flowChartProcess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放置样本</a:t>
              </a:r>
            </a:p>
          </p:txBody>
        </p:sp>
        <p:cxnSp>
          <p:nvCxnSpPr>
            <p:cNvPr id="40" name="肘形连接符 105">
              <a:extLst>
                <a:ext uri="{FF2B5EF4-FFF2-40B4-BE49-F238E27FC236}">
                  <a16:creationId xmlns:a16="http://schemas.microsoft.com/office/drawing/2014/main" id="{81629AC5-A587-4C8E-787A-0C63BD14410B}"/>
                </a:ext>
              </a:extLst>
            </p:cNvPr>
            <p:cNvCxnSpPr>
              <a:cxnSpLocks/>
            </p:cNvCxnSpPr>
            <p:nvPr/>
          </p:nvCxnSpPr>
          <p:spPr>
            <a:xfrm>
              <a:off x="1247751" y="2033151"/>
              <a:ext cx="587436" cy="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流程图: 过程 44">
              <a:extLst>
                <a:ext uri="{FF2B5EF4-FFF2-40B4-BE49-F238E27FC236}">
                  <a16:creationId xmlns:a16="http://schemas.microsoft.com/office/drawing/2014/main" id="{DBBE4375-F961-F09F-647F-7C3706145418}"/>
                </a:ext>
              </a:extLst>
            </p:cNvPr>
            <p:cNvSpPr/>
            <p:nvPr/>
          </p:nvSpPr>
          <p:spPr>
            <a:xfrm>
              <a:off x="124760" y="3425249"/>
              <a:ext cx="1084209" cy="678952"/>
            </a:xfrm>
            <a:prstGeom prst="flowChartProcess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落料滑走</a:t>
              </a:r>
            </a:p>
          </p:txBody>
        </p:sp>
        <p:cxnSp>
          <p:nvCxnSpPr>
            <p:cNvPr id="46" name="肘形连接符 122">
              <a:extLst>
                <a:ext uri="{FF2B5EF4-FFF2-40B4-BE49-F238E27FC236}">
                  <a16:creationId xmlns:a16="http://schemas.microsoft.com/office/drawing/2014/main" id="{A9E95426-0EE1-7F5D-0C63-7BA928EF64E6}"/>
                </a:ext>
              </a:extLst>
            </p:cNvPr>
            <p:cNvCxnSpPr>
              <a:cxnSpLocks/>
              <a:stCxn id="25" idx="1"/>
              <a:endCxn id="45" idx="3"/>
            </p:cNvCxnSpPr>
            <p:nvPr/>
          </p:nvCxnSpPr>
          <p:spPr>
            <a:xfrm rot="10800000" flipV="1">
              <a:off x="1208969" y="3209913"/>
              <a:ext cx="2578570" cy="55481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肘形连接符 122">
              <a:extLst>
                <a:ext uri="{FF2B5EF4-FFF2-40B4-BE49-F238E27FC236}">
                  <a16:creationId xmlns:a16="http://schemas.microsoft.com/office/drawing/2014/main" id="{5AF2A306-C68A-5B3D-7E83-9DE0CB495600}"/>
                </a:ext>
              </a:extLst>
            </p:cNvPr>
            <p:cNvCxnSpPr>
              <a:cxnSpLocks/>
              <a:stCxn id="25" idx="2"/>
              <a:endCxn id="17" idx="0"/>
            </p:cNvCxnSpPr>
            <p:nvPr/>
          </p:nvCxnSpPr>
          <p:spPr>
            <a:xfrm rot="5400000">
              <a:off x="5173732" y="3633824"/>
              <a:ext cx="1130415" cy="878942"/>
            </a:xfrm>
            <a:prstGeom prst="bentConnector3">
              <a:avLst>
                <a:gd name="adj1" fmla="val 58163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流程图: 过程 54">
              <a:extLst>
                <a:ext uri="{FF2B5EF4-FFF2-40B4-BE49-F238E27FC236}">
                  <a16:creationId xmlns:a16="http://schemas.microsoft.com/office/drawing/2014/main" id="{C5CAF3D9-0478-AC1F-87A2-CBC665B8F972}"/>
                </a:ext>
              </a:extLst>
            </p:cNvPr>
            <p:cNvSpPr/>
            <p:nvPr/>
          </p:nvSpPr>
          <p:spPr>
            <a:xfrm>
              <a:off x="1880907" y="3142304"/>
              <a:ext cx="1084209" cy="554813"/>
            </a:xfrm>
            <a:prstGeom prst="flowChartProcess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合格样本</a:t>
              </a:r>
            </a:p>
          </p:txBody>
        </p:sp>
        <p:sp>
          <p:nvSpPr>
            <p:cNvPr id="56" name="流程图: 过程 55">
              <a:extLst>
                <a:ext uri="{FF2B5EF4-FFF2-40B4-BE49-F238E27FC236}">
                  <a16:creationId xmlns:a16="http://schemas.microsoft.com/office/drawing/2014/main" id="{2977B836-FF58-450B-737A-7C19BAFB15DB}"/>
                </a:ext>
              </a:extLst>
            </p:cNvPr>
            <p:cNvSpPr/>
            <p:nvPr/>
          </p:nvSpPr>
          <p:spPr>
            <a:xfrm>
              <a:off x="5724958" y="3901386"/>
              <a:ext cx="1084209" cy="514526"/>
            </a:xfrm>
            <a:prstGeom prst="flowChartProcess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NG</a:t>
              </a:r>
              <a:r>
                <a:rPr lang="zh-CN" altLang="en-US" sz="1400" dirty="0"/>
                <a:t>样本</a:t>
              </a:r>
            </a:p>
          </p:txBody>
        </p:sp>
        <p:sp>
          <p:nvSpPr>
            <p:cNvPr id="57" name="流程图: 过程 56">
              <a:extLst>
                <a:ext uri="{FF2B5EF4-FFF2-40B4-BE49-F238E27FC236}">
                  <a16:creationId xmlns:a16="http://schemas.microsoft.com/office/drawing/2014/main" id="{A3BD6378-4F7B-4EE4-54EF-7558035870AE}"/>
                </a:ext>
              </a:extLst>
            </p:cNvPr>
            <p:cNvSpPr/>
            <p:nvPr/>
          </p:nvSpPr>
          <p:spPr>
            <a:xfrm>
              <a:off x="109843" y="4316615"/>
              <a:ext cx="1084209" cy="597122"/>
            </a:xfrm>
            <a:prstGeom prst="flowChartProcess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落料滑走</a:t>
              </a:r>
            </a:p>
          </p:txBody>
        </p:sp>
        <p:cxnSp>
          <p:nvCxnSpPr>
            <p:cNvPr id="58" name="肘形连接符 122">
              <a:extLst>
                <a:ext uri="{FF2B5EF4-FFF2-40B4-BE49-F238E27FC236}">
                  <a16:creationId xmlns:a16="http://schemas.microsoft.com/office/drawing/2014/main" id="{64EC4284-4C5D-3CE4-CC62-73AA1A46FEB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208974" y="3950656"/>
              <a:ext cx="4515985" cy="59712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流程图: 过程 66">
              <a:extLst>
                <a:ext uri="{FF2B5EF4-FFF2-40B4-BE49-F238E27FC236}">
                  <a16:creationId xmlns:a16="http://schemas.microsoft.com/office/drawing/2014/main" id="{5DC1B31F-1837-D1E9-239A-B9C7FB48A055}"/>
                </a:ext>
              </a:extLst>
            </p:cNvPr>
            <p:cNvSpPr/>
            <p:nvPr/>
          </p:nvSpPr>
          <p:spPr>
            <a:xfrm>
              <a:off x="124759" y="5138728"/>
              <a:ext cx="1084209" cy="846380"/>
            </a:xfrm>
            <a:prstGeom prst="flowChartProcess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NG</a:t>
              </a:r>
            </a:p>
            <a:p>
              <a:pPr algn="ctr"/>
              <a:r>
                <a:rPr lang="zh-CN" altLang="en-US" sz="1400" dirty="0"/>
                <a:t>缺陷分类</a:t>
              </a:r>
            </a:p>
          </p:txBody>
        </p:sp>
      </p:grpSp>
      <p:pic>
        <p:nvPicPr>
          <p:cNvPr id="69" name="图片 68">
            <a:extLst>
              <a:ext uri="{FF2B5EF4-FFF2-40B4-BE49-F238E27FC236}">
                <a16:creationId xmlns:a16="http://schemas.microsoft.com/office/drawing/2014/main" id="{51EE321D-9B68-4534-783A-CBFAE4EDC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666" y="1173767"/>
            <a:ext cx="5089701" cy="3903057"/>
          </a:xfrm>
          <a:prstGeom prst="rect">
            <a:avLst/>
          </a:prstGeom>
          <a:ln w="19050">
            <a:solidFill>
              <a:srgbClr val="C00000"/>
            </a:solidFill>
            <a:prstDash val="dash"/>
          </a:ln>
        </p:spPr>
      </p:pic>
      <p:sp>
        <p:nvSpPr>
          <p:cNvPr id="70" name="文本框 69">
            <a:extLst>
              <a:ext uri="{FF2B5EF4-FFF2-40B4-BE49-F238E27FC236}">
                <a16:creationId xmlns:a16="http://schemas.microsoft.com/office/drawing/2014/main" id="{4F86E788-7CC6-2799-A920-158E73961CC9}"/>
              </a:ext>
            </a:extLst>
          </p:cNvPr>
          <p:cNvSpPr txBox="1"/>
          <p:nvPr/>
        </p:nvSpPr>
        <p:spPr>
          <a:xfrm>
            <a:off x="8326675" y="5227536"/>
            <a:ext cx="2507539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pc="4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设备工作流程</a:t>
            </a:r>
            <a:endParaRPr lang="en-US" altLang="zh-CN" sz="1600" spc="4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032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211F3C07-0A0F-A3BC-E647-FE02780063B1}"/>
              </a:ext>
            </a:extLst>
          </p:cNvPr>
          <p:cNvGrpSpPr/>
          <p:nvPr/>
        </p:nvGrpSpPr>
        <p:grpSpPr>
          <a:xfrm>
            <a:off x="113990" y="1248331"/>
            <a:ext cx="6539898" cy="4069682"/>
            <a:chOff x="157231" y="1743059"/>
            <a:chExt cx="6539898" cy="406968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1853570-BFED-48F6-145A-3DB2D48C5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231" y="1743059"/>
              <a:ext cx="4819503" cy="4069682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CA5EEEE-C861-1C95-4B34-168881017239}"/>
                </a:ext>
              </a:extLst>
            </p:cNvPr>
            <p:cNvSpPr txBox="1"/>
            <p:nvPr/>
          </p:nvSpPr>
          <p:spPr>
            <a:xfrm>
              <a:off x="5235526" y="3712945"/>
              <a:ext cx="1461603" cy="338554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六轴机器人</a:t>
              </a:r>
              <a:endParaRPr kumimoji="0" lang="en-US" sz="1600" i="0" u="none" strike="noStrike" kern="1200" cap="none" spc="40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02D1396-7052-0C5F-1227-26DEA796D477}"/>
                </a:ext>
              </a:extLst>
            </p:cNvPr>
            <p:cNvSpPr txBox="1"/>
            <p:nvPr/>
          </p:nvSpPr>
          <p:spPr>
            <a:xfrm>
              <a:off x="5302447" y="4732182"/>
              <a:ext cx="1274715" cy="338554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样本料盘</a:t>
              </a:r>
              <a:endParaRPr kumimoji="0" lang="en-US" sz="1600" i="0" u="none" strike="noStrike" kern="1200" cap="none" spc="40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01045B1-18B4-4188-8B9C-0A4C656ACD0E}"/>
                </a:ext>
              </a:extLst>
            </p:cNvPr>
            <p:cNvSpPr txBox="1"/>
            <p:nvPr/>
          </p:nvSpPr>
          <p:spPr>
            <a:xfrm>
              <a:off x="5278227" y="2114076"/>
              <a:ext cx="1274715" cy="338554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spc="4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点胶机</a:t>
              </a:r>
              <a:endParaRPr kumimoji="0" lang="en-US" sz="1600" i="0" u="none" strike="noStrike" kern="1200" cap="none" spc="40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FF4C55F-7D7E-FC01-CDF8-CBC97680BCCE}"/>
                </a:ext>
              </a:extLst>
            </p:cNvPr>
            <p:cNvSpPr txBox="1"/>
            <p:nvPr/>
          </p:nvSpPr>
          <p:spPr>
            <a:xfrm>
              <a:off x="5302448" y="2923608"/>
              <a:ext cx="1274715" cy="338554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i="0" u="none" strike="noStrike" kern="1200" cap="none" spc="40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缺陷检测</a:t>
              </a:r>
              <a:endParaRPr kumimoji="0" lang="en-US" sz="1600" i="0" u="none" strike="noStrike" kern="1200" cap="none" spc="40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7FA65B53-0D61-0436-E027-84C240899C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5282" y="4901459"/>
              <a:ext cx="3070244" cy="26106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AD3747BE-2CF2-C8F0-B02B-D54A6C99E0AB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 flipV="1">
              <a:off x="2822507" y="3882222"/>
              <a:ext cx="2413019" cy="230148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C16416B-6834-56A0-6D2F-1AA0196788F1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 flipV="1">
              <a:off x="2943225" y="2283353"/>
              <a:ext cx="2335002" cy="40638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18FD8C9-A48E-F47A-9C6D-BD87D01D0398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 flipV="1">
              <a:off x="3885750" y="3092885"/>
              <a:ext cx="1416698" cy="31414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9A161A8-3E46-A75A-42A4-023CE2ECC796}"/>
              </a:ext>
            </a:extLst>
          </p:cNvPr>
          <p:cNvGrpSpPr/>
          <p:nvPr/>
        </p:nvGrpSpPr>
        <p:grpSpPr>
          <a:xfrm>
            <a:off x="6595878" y="1012131"/>
            <a:ext cx="5079915" cy="4869941"/>
            <a:chOff x="6587132" y="1904751"/>
            <a:chExt cx="5079915" cy="4869941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13435D10-DA7D-09E4-0636-C69E80A1A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7271090" y="2140951"/>
              <a:ext cx="4395957" cy="4633741"/>
            </a:xfrm>
            <a:prstGeom prst="rect">
              <a:avLst/>
            </a:prstGeom>
          </p:spPr>
        </p:pic>
        <p:sp>
          <p:nvSpPr>
            <p:cNvPr id="21" name="箭头: 下 20">
              <a:extLst>
                <a:ext uri="{FF2B5EF4-FFF2-40B4-BE49-F238E27FC236}">
                  <a16:creationId xmlns:a16="http://schemas.microsoft.com/office/drawing/2014/main" id="{03F60016-775C-D841-C6B5-8E7EE87AF5A5}"/>
                </a:ext>
              </a:extLst>
            </p:cNvPr>
            <p:cNvSpPr/>
            <p:nvPr/>
          </p:nvSpPr>
          <p:spPr>
            <a:xfrm>
              <a:off x="8764115" y="1904751"/>
              <a:ext cx="609600" cy="839283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上料</a:t>
              </a:r>
            </a:p>
          </p:txBody>
        </p:sp>
        <p:sp>
          <p:nvSpPr>
            <p:cNvPr id="23" name="箭头: 下 22">
              <a:extLst>
                <a:ext uri="{FF2B5EF4-FFF2-40B4-BE49-F238E27FC236}">
                  <a16:creationId xmlns:a16="http://schemas.microsoft.com/office/drawing/2014/main" id="{FFB53BE7-5492-19F1-0A4C-7987B1E83EDF}"/>
                </a:ext>
              </a:extLst>
            </p:cNvPr>
            <p:cNvSpPr/>
            <p:nvPr/>
          </p:nvSpPr>
          <p:spPr>
            <a:xfrm>
              <a:off x="10706170" y="3067776"/>
              <a:ext cx="609600" cy="978809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点胶</a:t>
              </a:r>
            </a:p>
          </p:txBody>
        </p:sp>
        <p:sp>
          <p:nvSpPr>
            <p:cNvPr id="25" name="箭头: 下 24">
              <a:extLst>
                <a:ext uri="{FF2B5EF4-FFF2-40B4-BE49-F238E27FC236}">
                  <a16:creationId xmlns:a16="http://schemas.microsoft.com/office/drawing/2014/main" id="{84DA3AB7-DA3E-402A-4F26-756FF3266DD3}"/>
                </a:ext>
              </a:extLst>
            </p:cNvPr>
            <p:cNvSpPr/>
            <p:nvPr/>
          </p:nvSpPr>
          <p:spPr>
            <a:xfrm rot="5400000">
              <a:off x="10426503" y="5628658"/>
              <a:ext cx="609600" cy="978809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zh-CN" altLang="en-US" dirty="0"/>
                <a:t>检测</a:t>
              </a:r>
            </a:p>
          </p:txBody>
        </p:sp>
        <p:sp>
          <p:nvSpPr>
            <p:cNvPr id="26" name="箭头: 下 25">
              <a:extLst>
                <a:ext uri="{FF2B5EF4-FFF2-40B4-BE49-F238E27FC236}">
                  <a16:creationId xmlns:a16="http://schemas.microsoft.com/office/drawing/2014/main" id="{4524BB82-0287-9AB4-5884-15E34C9E4756}"/>
                </a:ext>
              </a:extLst>
            </p:cNvPr>
            <p:cNvSpPr/>
            <p:nvPr/>
          </p:nvSpPr>
          <p:spPr>
            <a:xfrm rot="5400000">
              <a:off x="6701974" y="5775887"/>
              <a:ext cx="609600" cy="839283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zh-CN" altLang="en-US" dirty="0"/>
                <a:t>出料</a:t>
              </a:r>
            </a:p>
          </p:txBody>
        </p:sp>
        <p:sp>
          <p:nvSpPr>
            <p:cNvPr id="27" name="箭头: 上弧形 26">
              <a:extLst>
                <a:ext uri="{FF2B5EF4-FFF2-40B4-BE49-F238E27FC236}">
                  <a16:creationId xmlns:a16="http://schemas.microsoft.com/office/drawing/2014/main" id="{87B9AEBF-0F61-79F1-046E-42EC3B9062BC}"/>
                </a:ext>
              </a:extLst>
            </p:cNvPr>
            <p:cNvSpPr/>
            <p:nvPr/>
          </p:nvSpPr>
          <p:spPr>
            <a:xfrm>
              <a:off x="8583244" y="3645175"/>
              <a:ext cx="1771650" cy="812647"/>
            </a:xfrm>
            <a:prstGeom prst="curved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箭头: 上弧形 27">
              <a:extLst>
                <a:ext uri="{FF2B5EF4-FFF2-40B4-BE49-F238E27FC236}">
                  <a16:creationId xmlns:a16="http://schemas.microsoft.com/office/drawing/2014/main" id="{5022CFE6-B286-B72E-1965-C1EB67BD9799}"/>
                </a:ext>
              </a:extLst>
            </p:cNvPr>
            <p:cNvSpPr/>
            <p:nvPr/>
          </p:nvSpPr>
          <p:spPr>
            <a:xfrm flipH="1" flipV="1">
              <a:off x="8522987" y="4591704"/>
              <a:ext cx="1771650" cy="812647"/>
            </a:xfrm>
            <a:prstGeom prst="curved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6139009-0433-2E80-4108-EB8B96759321}"/>
              </a:ext>
            </a:extLst>
          </p:cNvPr>
          <p:cNvGrpSpPr/>
          <p:nvPr/>
        </p:nvGrpSpPr>
        <p:grpSpPr>
          <a:xfrm>
            <a:off x="0" y="0"/>
            <a:ext cx="541879" cy="533912"/>
            <a:chOff x="0" y="0"/>
            <a:chExt cx="1036639" cy="1676401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5DCC5BB-A958-8A2B-3B4B-5C0F5C54B6E6}"/>
                </a:ext>
              </a:extLst>
            </p:cNvPr>
            <p:cNvSpPr/>
            <p:nvPr/>
          </p:nvSpPr>
          <p:spPr>
            <a:xfrm flipH="1" flipV="1">
              <a:off x="626735" y="1"/>
              <a:ext cx="409904" cy="1676400"/>
            </a:xfrm>
            <a:prstGeom prst="rect">
              <a:avLst/>
            </a:prstGeom>
            <a:solidFill>
              <a:srgbClr val="2D84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DAE06D93-51B5-FE1C-0410-A1BC0E304B48}"/>
                </a:ext>
              </a:extLst>
            </p:cNvPr>
            <p:cNvSpPr/>
            <p:nvPr/>
          </p:nvSpPr>
          <p:spPr>
            <a:xfrm flipH="1" flipV="1">
              <a:off x="0" y="0"/>
              <a:ext cx="409905" cy="16763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C56F1ED-B1C4-CA19-F673-BBFD127A4486}"/>
              </a:ext>
            </a:extLst>
          </p:cNvPr>
          <p:cNvGrpSpPr/>
          <p:nvPr/>
        </p:nvGrpSpPr>
        <p:grpSpPr>
          <a:xfrm>
            <a:off x="3265200" y="126926"/>
            <a:ext cx="5803715" cy="1308628"/>
            <a:chOff x="3869494" y="45817"/>
            <a:chExt cx="4901584" cy="1363591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A6750A8-AA13-5A90-E870-13F051C98860}"/>
                </a:ext>
              </a:extLst>
            </p:cNvPr>
            <p:cNvSpPr/>
            <p:nvPr/>
          </p:nvSpPr>
          <p:spPr>
            <a:xfrm>
              <a:off x="3869494" y="165523"/>
              <a:ext cx="4901584" cy="61547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1353680-752A-A09A-6096-DF88BF7480E9}"/>
                </a:ext>
              </a:extLst>
            </p:cNvPr>
            <p:cNvSpPr txBox="1"/>
            <p:nvPr/>
          </p:nvSpPr>
          <p:spPr>
            <a:xfrm>
              <a:off x="3869494" y="45817"/>
              <a:ext cx="4901584" cy="1363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7-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拓展：二期项目基本设计原则与方案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888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A8187182-D1F6-BBF0-CB28-E88B57ADC4AD}"/>
              </a:ext>
            </a:extLst>
          </p:cNvPr>
          <p:cNvGrpSpPr/>
          <p:nvPr/>
        </p:nvGrpSpPr>
        <p:grpSpPr>
          <a:xfrm>
            <a:off x="0" y="0"/>
            <a:ext cx="541879" cy="533912"/>
            <a:chOff x="0" y="0"/>
            <a:chExt cx="1036639" cy="1676401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C6DC0EA-6AFB-5A72-EE9E-2C70E1307427}"/>
                </a:ext>
              </a:extLst>
            </p:cNvPr>
            <p:cNvSpPr/>
            <p:nvPr/>
          </p:nvSpPr>
          <p:spPr>
            <a:xfrm flipH="1" flipV="1">
              <a:off x="626735" y="1"/>
              <a:ext cx="409904" cy="1676400"/>
            </a:xfrm>
            <a:prstGeom prst="rect">
              <a:avLst/>
            </a:prstGeom>
            <a:solidFill>
              <a:srgbClr val="2D84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0751BC4-A910-157E-7549-746F5ADCE15E}"/>
                </a:ext>
              </a:extLst>
            </p:cNvPr>
            <p:cNvSpPr/>
            <p:nvPr/>
          </p:nvSpPr>
          <p:spPr>
            <a:xfrm flipH="1" flipV="1">
              <a:off x="0" y="0"/>
              <a:ext cx="409905" cy="16763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EA0283D-B051-0379-F4C9-B53729397E4E}"/>
              </a:ext>
            </a:extLst>
          </p:cNvPr>
          <p:cNvGrpSpPr/>
          <p:nvPr/>
        </p:nvGrpSpPr>
        <p:grpSpPr>
          <a:xfrm>
            <a:off x="3194142" y="-48855"/>
            <a:ext cx="5803715" cy="705545"/>
            <a:chOff x="3869494" y="45817"/>
            <a:chExt cx="4901584" cy="73517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381824B-A2DF-C08B-3018-3F9F975C433C}"/>
                </a:ext>
              </a:extLst>
            </p:cNvPr>
            <p:cNvSpPr/>
            <p:nvPr/>
          </p:nvSpPr>
          <p:spPr>
            <a:xfrm>
              <a:off x="3869494" y="165523"/>
              <a:ext cx="4901584" cy="61547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4A24A1D-BE28-3AAC-21C9-C70F68BACEAF}"/>
                </a:ext>
              </a:extLst>
            </p:cNvPr>
            <p:cNvSpPr txBox="1"/>
            <p:nvPr/>
          </p:nvSpPr>
          <p:spPr>
            <a:xfrm>
              <a:off x="3869494" y="45817"/>
              <a:ext cx="4901584" cy="688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8-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rPr>
                <a:t>项目进展预期与成本预算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</p:grp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EBCD96A2-D600-E6C1-F013-2596C4531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49118"/>
              </p:ext>
            </p:extLst>
          </p:nvPr>
        </p:nvGraphicFramePr>
        <p:xfrm>
          <a:off x="1753299" y="771571"/>
          <a:ext cx="8498048" cy="2560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32224">
                  <a:extLst>
                    <a:ext uri="{9D8B030D-6E8A-4147-A177-3AD203B41FA5}">
                      <a16:colId xmlns:a16="http://schemas.microsoft.com/office/drawing/2014/main" val="2513520354"/>
                    </a:ext>
                  </a:extLst>
                </a:gridCol>
                <a:gridCol w="2832912">
                  <a:extLst>
                    <a:ext uri="{9D8B030D-6E8A-4147-A177-3AD203B41FA5}">
                      <a16:colId xmlns:a16="http://schemas.microsoft.com/office/drawing/2014/main" val="3951232314"/>
                    </a:ext>
                  </a:extLst>
                </a:gridCol>
                <a:gridCol w="2832912">
                  <a:extLst>
                    <a:ext uri="{9D8B030D-6E8A-4147-A177-3AD203B41FA5}">
                      <a16:colId xmlns:a16="http://schemas.microsoft.com/office/drawing/2014/main" val="3361448"/>
                    </a:ext>
                  </a:extLst>
                </a:gridCol>
              </a:tblGrid>
              <a:tr h="355762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研发费用</a:t>
                      </a:r>
                      <a:endParaRPr lang="en-US" altLang="zh-C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备注</a:t>
                      </a:r>
                      <a:endParaRPr lang="en-US" altLang="zh-C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354910"/>
                  </a:ext>
                </a:extLst>
              </a:tr>
              <a:tr h="3557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费用（万元）</a:t>
                      </a:r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批量生产一套成本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万左右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126910"/>
                  </a:ext>
                </a:extLst>
              </a:tr>
              <a:tr h="3557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结构研制及控制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批量生产一套成本</a:t>
                      </a: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万左右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645696"/>
                  </a:ext>
                </a:extLst>
              </a:tr>
              <a:tr h="3557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成像与照明系统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474507"/>
                  </a:ext>
                </a:extLst>
              </a:tr>
              <a:tr h="3557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检测算法开发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944076"/>
                  </a:ext>
                </a:extLst>
              </a:tr>
              <a:tr h="3557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其他费用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004114"/>
                  </a:ext>
                </a:extLst>
              </a:tr>
              <a:tr h="3557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23049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2624F2E-58FD-D744-07CE-7EAA95356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740782"/>
              </p:ext>
            </p:extLst>
          </p:nvPr>
        </p:nvGraphicFramePr>
        <p:xfrm>
          <a:off x="1753299" y="3596096"/>
          <a:ext cx="8498049" cy="30326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92177">
                  <a:extLst>
                    <a:ext uri="{9D8B030D-6E8A-4147-A177-3AD203B41FA5}">
                      <a16:colId xmlns:a16="http://schemas.microsoft.com/office/drawing/2014/main" val="1435487140"/>
                    </a:ext>
                  </a:extLst>
                </a:gridCol>
                <a:gridCol w="4446720">
                  <a:extLst>
                    <a:ext uri="{9D8B030D-6E8A-4147-A177-3AD203B41FA5}">
                      <a16:colId xmlns:a16="http://schemas.microsoft.com/office/drawing/2014/main" val="434100874"/>
                    </a:ext>
                  </a:extLst>
                </a:gridCol>
                <a:gridCol w="2559152">
                  <a:extLst>
                    <a:ext uri="{9D8B030D-6E8A-4147-A177-3AD203B41FA5}">
                      <a16:colId xmlns:a16="http://schemas.microsoft.com/office/drawing/2014/main" val="2352426541"/>
                    </a:ext>
                  </a:extLst>
                </a:gridCol>
              </a:tblGrid>
              <a:tr h="3778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项目进展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完成时间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009964"/>
                  </a:ext>
                </a:extLst>
              </a:tr>
              <a:tr h="437920"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开发周期</a:t>
                      </a: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50</a:t>
                      </a:r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个工作日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系统方案及硬件设计拆图加工</a:t>
                      </a:r>
                      <a:endParaRPr lang="en-US" altLang="zh-CN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15</a:t>
                      </a:r>
                      <a:r>
                        <a:rPr lang="zh-CN" altLang="en-US" sz="1800" dirty="0"/>
                        <a:t>个工作日</a:t>
                      </a:r>
                      <a:endParaRPr lang="en-US" altLang="zh-C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402271"/>
                  </a:ext>
                </a:extLst>
              </a:tr>
              <a:tr h="377864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硬件设备安装</a:t>
                      </a:r>
                      <a:endParaRPr lang="en-US" altLang="zh-CN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8</a:t>
                      </a:r>
                      <a:r>
                        <a:rPr lang="zh-CN" altLang="en-US" sz="1800" dirty="0"/>
                        <a:t>个工作日</a:t>
                      </a:r>
                      <a:endParaRPr lang="en-US" altLang="zh-C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3430424"/>
                  </a:ext>
                </a:extLst>
              </a:tr>
              <a:tr h="377864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检测算法</a:t>
                      </a:r>
                      <a:endParaRPr lang="en-US" altLang="zh-CN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35</a:t>
                      </a:r>
                      <a:r>
                        <a:rPr lang="zh-CN" altLang="en-US" sz="1800" dirty="0"/>
                        <a:t>个工作日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2261926"/>
                  </a:ext>
                </a:extLst>
              </a:tr>
              <a:tr h="377864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系统调试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10</a:t>
                      </a:r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个工作日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601529"/>
                  </a:ext>
                </a:extLst>
              </a:tr>
              <a:tr h="7602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备注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检测算法开发与系统方案及硬件设计拆图加工、硬件设备安装同时进行</a:t>
                      </a:r>
                      <a:endParaRPr lang="en-US" altLang="zh-CN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058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3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CD10105-8375-4784-BEB8-1D685185183E}"/>
              </a:ext>
            </a:extLst>
          </p:cNvPr>
          <p:cNvSpPr/>
          <p:nvPr/>
        </p:nvSpPr>
        <p:spPr>
          <a:xfrm>
            <a:off x="10067491" y="-1"/>
            <a:ext cx="409903" cy="1209174"/>
          </a:xfrm>
          <a:prstGeom prst="rect">
            <a:avLst/>
          </a:prstGeom>
          <a:solidFill>
            <a:srgbClr val="2D8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08503A-FDC2-4462-B684-C46A7C709138}"/>
              </a:ext>
            </a:extLst>
          </p:cNvPr>
          <p:cNvSpPr/>
          <p:nvPr/>
        </p:nvSpPr>
        <p:spPr>
          <a:xfrm>
            <a:off x="10652679" y="-2"/>
            <a:ext cx="409903" cy="12091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767395-9F3C-4CC3-826B-16C7861DFEE2}"/>
              </a:ext>
            </a:extLst>
          </p:cNvPr>
          <p:cNvSpPr/>
          <p:nvPr/>
        </p:nvSpPr>
        <p:spPr>
          <a:xfrm>
            <a:off x="2307014" y="2234244"/>
            <a:ext cx="8263801" cy="13136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6000" b="1" spc="3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期待合作，共创精彩！</a:t>
            </a:r>
            <a:endParaRPr lang="en-US" altLang="zh-CN" sz="6000" b="1" spc="3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A9513F-750C-4F02-B862-46A4AD5C3E29}"/>
              </a:ext>
            </a:extLst>
          </p:cNvPr>
          <p:cNvSpPr/>
          <p:nvPr/>
        </p:nvSpPr>
        <p:spPr>
          <a:xfrm>
            <a:off x="10067491" y="4631875"/>
            <a:ext cx="409903" cy="2226123"/>
          </a:xfrm>
          <a:prstGeom prst="rect">
            <a:avLst/>
          </a:prstGeom>
          <a:solidFill>
            <a:srgbClr val="2D8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2E6DB0-CC8F-4642-AA96-0E728742226E}"/>
              </a:ext>
            </a:extLst>
          </p:cNvPr>
          <p:cNvSpPr/>
          <p:nvPr/>
        </p:nvSpPr>
        <p:spPr>
          <a:xfrm>
            <a:off x="10652679" y="4631876"/>
            <a:ext cx="409903" cy="222612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1026" name="Picture 2" descr="查看源图像">
            <a:extLst>
              <a:ext uri="{FF2B5EF4-FFF2-40B4-BE49-F238E27FC236}">
                <a16:creationId xmlns:a16="http://schemas.microsoft.com/office/drawing/2014/main" id="{12801F44-74FD-5C04-F8BD-A6A719918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63" y="382795"/>
            <a:ext cx="4423406" cy="11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901669E-AEB9-7660-76EC-F36AB29F198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19" t="30581" r="25877" b="37715"/>
          <a:stretch/>
        </p:blipFill>
        <p:spPr>
          <a:xfrm>
            <a:off x="6096000" y="382795"/>
            <a:ext cx="3087149" cy="128495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64A9862-4A2D-E091-BC3E-1E0F7713F6DB}"/>
              </a:ext>
            </a:extLst>
          </p:cNvPr>
          <p:cNvSpPr txBox="1"/>
          <p:nvPr/>
        </p:nvSpPr>
        <p:spPr>
          <a:xfrm>
            <a:off x="4166327" y="5252505"/>
            <a:ext cx="44935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i="0" u="none" strike="noStrike" cap="none" spc="40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单位：电子科技大学宜宾研究院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0980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2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2D84A9"/>
      </a:accent1>
      <a:accent2>
        <a:srgbClr val="BF0000"/>
      </a:accent2>
      <a:accent3>
        <a:srgbClr val="2D84A9"/>
      </a:accent3>
      <a:accent4>
        <a:srgbClr val="BF0000"/>
      </a:accent4>
      <a:accent5>
        <a:srgbClr val="2D84A9"/>
      </a:accent5>
      <a:accent6>
        <a:srgbClr val="BF0000"/>
      </a:accent6>
      <a:hlink>
        <a:srgbClr val="0563C1"/>
      </a:hlink>
      <a:folHlink>
        <a:srgbClr val="954D72"/>
      </a:folHlink>
    </a:clrScheme>
    <a:fontScheme name="2jf5otcl">
      <a:majorFont>
        <a:latin typeface="Microsoft YaHei" panose="020F0302020204030204"/>
        <a:ea typeface="Microsoft YaHei"/>
        <a:cs typeface=""/>
      </a:majorFont>
      <a:minorFont>
        <a:latin typeface="Microsoft YaHei" panose="020F0502020204030204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91440" tIns="45720" rIns="91440" bIns="45720" anchor="b" anchorCtr="0">
        <a:noAutofit/>
      </a:bodyPr>
      <a:lstStyle>
        <a:defPPr>
          <a:lnSpc>
            <a:spcPct val="160000"/>
          </a:lnSpc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22046</TotalTime>
  <Words>980</Words>
  <Application>Microsoft Office PowerPoint</Application>
  <PresentationFormat>宽屏</PresentationFormat>
  <Paragraphs>230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Microsoft YaHei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</dc:title>
  <dc:creator>Administrator</dc:creator>
  <cp:lastModifiedBy>admin</cp:lastModifiedBy>
  <cp:revision>378</cp:revision>
  <dcterms:created xsi:type="dcterms:W3CDTF">2019-03-04T05:49:55Z</dcterms:created>
  <dcterms:modified xsi:type="dcterms:W3CDTF">2023-03-29T03:27:13Z</dcterms:modified>
</cp:coreProperties>
</file>